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7280"/>
                </a:solidFill>
                <a:latin typeface="Calibri"/>
              </a:defRPr>
            </a:pPr>
            <a:r>
              <a:rPr sz="1400" b="0" i="0" u="none" strike="noStrike">
                <a:solidFill>
                  <a:srgbClr val="6B7280"/>
                </a:solidFill>
                <a:latin typeface="Calibri"/>
              </a:rPr>
              <a:t>Демонстрациялық базадағы 36 құжат</a:t>
            </a:r>
          </a:p>
        </c:rich>
      </c:tx>
      <c:layout/>
      <c:overlay val="0"/>
    </c:title>
    <c:autoTitleDeleted val="0"/>
    <c:plotArea>
      <c:layout/>
      <c:barChart>
        <c:barDir val="bar"/>
        <c:grouping val="clustered"/>
        <c:varyColors val="0"/>
        <c:ser>
          <c:idx val="0"/>
          <c:order val="0"/>
          <c:tx>
            <c:strRef>
              <c:f>Sheet1!$B$1</c:f>
              <c:strCache>
                <c:ptCount val="1"/>
                <c:pt idx="0">
                  <c:v>Құжат саны</c:v>
                </c:pt>
              </c:strCache>
            </c:strRef>
          </c:tx>
          <c:spPr>
            <a:solidFill>
              <a:srgbClr val="1F3A5F"/>
            </a:solidFill>
            <a:effectLst/>
          </c:spPr>
          <c:invertIfNegative val="0"/>
          <c:dLbls>
            <c:numFmt formatCode="#,##0" sourceLinked="0"/>
            <c:txPr>
              <a:bodyPr/>
              <a:lstStyle/>
              <a:p>
                <a:pPr>
                  <a:defRPr b="0" i="0" strike="noStrike" sz="1400" u="none">
                    <a:solidFill>
                      <a:srgbClr val="1F2937"/>
                    </a:solidFill>
                    <a:latin typeface="Calibri"/>
                  </a:defRPr>
                </a:pPr>
              </a:p>
            </c:txPr>
            <c:showLegendKey val="0"/>
            <c:showVal val="1"/>
            <c:showCatName val="0"/>
            <c:showSerName val="0"/>
            <c:showPercent val="0"/>
            <c:showBubbleSize val="0"/>
            <c:showLeaderLines val="0"/>
          </c:dLbls>
          <c:cat>
            <c:strRef>
              <c:f>Sheet1!$A$2:$A$5</c:f>
              <c:strCache>
                <c:ptCount val="4"/>
                <c:pt idx="0">
                  <c:v>Оқу-әдістемелік</c:v>
                </c:pt>
                <c:pt idx="1">
                  <c:v>Аттестаттау</c:v>
                </c:pt>
                <c:pt idx="2">
                  <c:v>Контингент</c:v>
                </c:pt>
                <c:pt idx="3">
                  <c:v>Нормативтік</c:v>
                </c:pt>
              </c:strCache>
            </c:strRef>
          </c:cat>
          <c:val>
            <c:numRef>
              <c:f>Sheet1!$B$2:$B$5</c:f>
              <c:numCache>
                <c:formatCode>General</c:formatCode>
                <c:ptCount val="4"/>
                <c:pt idx="0">
                  <c:v>15</c:v>
                </c:pt>
                <c:pt idx="1">
                  <c:v>10</c:v>
                </c:pt>
                <c:pt idx="2">
                  <c:v>8</c:v>
                </c:pt>
                <c:pt idx="3">
                  <c:v>3</c:v>
                </c:pt>
              </c:numCache>
            </c:numRef>
          </c:val>
        </c:ser>
        <c:dLbls>
          <c:numFmt formatCode="#,##0" sourceLinked="0"/>
          <c:txPr>
            <a:bodyPr/>
            <a:lstStyle/>
            <a:p>
              <a:pPr>
                <a:defRPr b="0" i="0" strike="noStrike" sz="1400" u="none">
                  <a:solidFill>
                    <a:srgbClr val="1F293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Құрметті комиссия мүшелері! Біз – 6B06112 «Жасанды интеллект технологиялары» білім беру бағдарламасының 2-курс студенттері Ербол Елқұт және Авьдал Бахатбек. Назарларыңызға «Деректер базасы және SQL сұратымдар» пәні бойынша курстық жұмысымызды ұсынамыз. Тақырыбы – мемлекеттік жоғары оқу орнындағы оқу үдерісіне қатысты құжаттарды есепке алуға арналған деректер базасы. Жоба Python тілінде, SQLite деректер базасымен, PyCharm ортасында жасалды. Слайдта біз жасаған EduDocs қосымшасының басты беті көрсетілген.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Университетте оқу үдерісі көп құжатқа сүйенеді: силлабус, оқу жұмыс жоспары, емтихан ведомосі, бұйрықтар, анықтамалар. Олар әртүрлі бөлімшелерде жасалып, бөлек журналдарда немесе Excel-де сақталса, құжаттың қай кезеңде тұрғанын, кім жауапты екенін білу және керекті құжатты табу қиын. Сондықтан жұмыстың мақсаты – осы құжаттарды бір тізілімде есепке алатын реляциялық деректер базасы мен оған арналған қосымшаны жасау.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Әдістемелік нұсқаулықта курстық жұмыстың тоғыз міндеті берілген. Слайдта әр міндеттің қай скриптте орындалғаны көрсетілген: базаны құру және қосылу – бірінші қадамда, алты кесте мен төрт сыртқы кілт – екінші қадамда, деректерді енгізу, өзгерту және жою – үшінші және төртінші қадамдарда, ал іріктеу, сүзгілеу, топтау және JOIN сұратымдары – бестен сегізге дейінгі қадамдарда. Диаграмманы он екінші скрипт салады. Бұдан бөлек кірістірілген сұратымдар, көрініс, триггер, транзакция мен индекс және веб-қосымша жасалды.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Пәндік аймақты талдап, біз жиі қолданылатын сегіз құжат түрін таңдадық және оларды төрт санатқа бөлдік: оқу-әдістемелік, аттестаттау, контингент және нормативтік. Әр құжатқа «түр коды – жыл – реттік нөмір» түріндегі бірегей тіркеу нөмірі беріледі, мысалы СИЛ-2026/001. Оң жақтағы диаграммада демонстрациялық базадағы 36 құжаттың санаттар бойынша бөлінуі көрсетілген.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Әр құжат төрт кезеңнен өтеді: жоба, келісуде, бекітілді және мұрағатта. Бұл мәндерді status өрісіндегі CHECK шектеуі тексереді, басқа мән жазуға болмайды. Жаңа құжат әдепкі бойынша «жоба» күйінде тіркеледі. Бекітілген немесе мұрағаттағы құжатты жою әрекетін trg_protect_approved триггері тоқтатады, сондықтан маңызды құжат кездейсоқ жойылмайды.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Концептуалдық модельде төрт мән бар: Бөлімше, Құжат түрі, Құжат және Білім алушы. Құжат түрі мен бөлімше құжатпен «бірге-көп» байланыста. Құжат пен білім алушы арасында «көпке-көп» байланыс бар: бір бұйрықта бірнеше білім алушы болады, ал бір білім алушыға бірнеше құжат қатысты. Мұндай байланыс document_students аралық кестесі арқылы жүзеге асырылды.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Логикалық модель алты кестеге айналды: төрт мәннің кестелері, «көпке-көп» байланыстың аралық кестесі және қосымшаға кіру үшін users кестесі. Барлығы 32 өріс, 4 сыртқы кілт, іздеуді жылдамдататын 2 индекс, тіркеу журналын беретін 1 көрініс және 1 триггер бар. Бұл диаграмманы қолмен салған жоқпыз: step12 скрипті базаның жүйелік каталогын PRAGMA командаларымен оқып, оны автоматты түрде салады.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Схема үшінші қалыпты формаға келтірілді. Құжат түрінің атауы мен сақтау мерзімі және бөлімшенің атауы бөлек анықтамалықтарда бір рет сақталады, ал құжатта тек олардың id нөмірі тұрады. Бұйрыққа қатысты білім алушылар бір өріске үтір арқылы жазылмай, аралық кестеде бөлек жолдармен сақталады. Деректердің дұрыстығын бастапқы және сыртқы кілттер, UNIQUE, CHECK шектеулері және триггер қамтамасыз етеді. Оң жақта триггердің коды берілген.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Барлық жұмыс PyCharm ортасында 12 скриптке бөлінді. Әр скрипт жеке іске қосылады және нәтижесін Run терезесіне кесте түрінде шығарады; run_all_steps.py барлығын қатарынан орындайды. Мысалы, суретте сегізінші қадам көрсетілген: сол жақта JOIN сұратымдарының коды, оң жақта олардың нәтижесі. Соңғы жолдағы 0 шығу коды скрипттің қатесіз аяқталғанын білдіреді.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Мұнда үш сұратымның мысалы бар. Біріншісі – «көпке-көп» байланыс: екі JOIN арқылы білім алушыға қатысты барлық құжаттарды табамыз. Екіншісі – NOT EXISTS: 2026–2027 оқу жылында әлі бірде-бір құжаты жоқ түрді табады; нәтижесінде емтихан ведомосі шықты. Үшіншісі – JOIN, GROUP BY және HAVING: бестен көп құжаты бар бөлімшелерді санайды, ең көбі – ЖИТ кафедрасы, 19 құжат.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Деректер базасымен ыңғайлы жұмыс істеу үшін EduDocs веб-қосымшасын жасадық. Ол тек Python-ның стандартты кітапханасымен жазылған: PyCharm-де app.py іске қосылғанда браузер өзі ашылады. Тізілімде құжатты атауы немесе нөмірі бойынша іздеуге, санат, түр, оқу жылы және бөлімше бойынша сүзуге, баған тақырыбын басып сұрыптауға болады. Барлық сүзгі SQL сұратымының WHERE шартына айналады. Сондай-ақ жаңа құжатты тіркеу, білім алушыға қатысты құжаттар және дайын SQL есептер беті бар.</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Қосымшаға кіру үшін логин мен құпиясөз енгізіледі. Тексеру үшін екі тіркелгі дайындалған: әкімші – admin, құпиясөзі Admin2026; қонақ – qonaq, құпиясөзі Qonaq2026. Құпиясөз базада ашық сақталмайды, PBKDF2 алгоритмімен есептелген хэш қана жазылады. Әкімші төрт бетті көреді және құжаттарды қоса, өзгерте, жоя алады; қонақ үш бетті көреді және оған тек бекітілген мен мұрағаттағы құжаттар шығады. Қонақтың құқығы серверде де тексеріледі. Суретте қонақ санат бойынша сүзіп, құжат түрі бойынша сұрыптаған тізім көрсетілген.</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Нәтижелерден үшеуін атап өтейік. Біріншіден, база 6 кестеде 104 жазбаны сақтайды, ал 12 скрипттің барлығы қатесіз орындалды. Екіншіден, шектеулер тексерілді: қате деректерді енгізудің бес әрекетінің бесеуін де FOREIGN KEY, CHECK, UNIQUE және NOT NULL шектеулері тоқтатты. Үшіншіден, қазақ тіліне қатысты екі мәселені шештік: LIKE бас әріпті ажыратады – оны kz_lower функциясы шешті, ал әдепкі сұрыптау Ә әрпін соңына қояды – оны KAZAKH салыстыру ережесі шешті. Кестеде екі сұрыптаудың айырмашылығы көрсетілген.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Қорытындылай келе, курстық жұмыстың барлық міндеттері орындалды: оқу құжаттарын есепке алуға арналған үшінші қалыпты формадағы деректер базасы жобаланып, PyCharm-де 12 скрипт арқылы өңделді және EduDocs веб-қосымшасы жасалды. Болашақта жүйені PostgreSQL-ге көшіріп, құжат файлдарын сақтау мен электрондық цифрлық қолтаңбаны қосуға болады. Назарларыңызға рахмет! Сұрақтарыңызға жауап беруге дайынбыз.</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2.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image" Target="../media/image-3-1.png"/><Relationship Id="rId5" Type="http://schemas.openxmlformats.org/officeDocument/2006/relationships/image" Target="../media/image-3-1.png"/><Relationship Id="rId6" Type="http://schemas.openxmlformats.org/officeDocument/2006/relationships/image" Target="../media/image-3-1.png"/><Relationship Id="rId7" Type="http://schemas.openxmlformats.org/officeDocument/2006/relationships/image" Target="../media/image-3-1.png"/><Relationship Id="rId8" Type="http://schemas.openxmlformats.org/officeDocument/2006/relationships/image" Target="../media/image-3-1.png"/><Relationship Id="rId9" Type="http://schemas.openxmlformats.org/officeDocument/2006/relationships/image" Target="../media/image-3-1.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3.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4.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 Id="rId10" Type="http://schemas.openxmlformats.org/officeDocument/2006/relationships/image" Target="../media/image5.png"/><Relationship Id="rId11"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4.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11480"/>
            <a:ext cx="6766560" cy="7315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Л.Н. Гумилев атындағы Еуразия ұлттық университеті</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Жасанды интеллект технологиялары кафедрасы</a:t>
            </a:r>
            <a:endParaRPr lang="en-US" sz="1400" dirty="0"/>
          </a:p>
        </p:txBody>
      </p:sp>
      <p:sp>
        <p:nvSpPr>
          <p:cNvPr id="3" name="Text 1"/>
          <p:cNvSpPr txBox="1"/>
          <p:nvPr/>
        </p:nvSpPr>
        <p:spPr>
          <a:xfrm>
            <a:off x="548640" y="1417320"/>
            <a:ext cx="6766560" cy="365760"/>
          </a:xfrm>
          <a:prstGeom prst="rect">
            <a:avLst/>
          </a:prstGeom>
          <a:noFill/>
          <a:ln/>
        </p:spPr>
        <p:txBody>
          <a:bodyPr wrap="square" lIns="0" tIns="0" rIns="0" bIns="0" rtlCol="0" anchor="ctr"/>
          <a:lstStyle/>
          <a:p>
            <a:pPr indent="0" marL="0">
              <a:buNone/>
            </a:pPr>
            <a:r>
              <a:rPr lang="en-US" sz="1600" dirty="0">
                <a:solidFill>
                  <a:srgbClr val="E3EAF3"/>
                </a:solidFill>
                <a:latin typeface="Calibri" pitchFamily="34" charset="0"/>
                <a:ea typeface="Calibri" pitchFamily="34" charset="-122"/>
                <a:cs typeface="Calibri" pitchFamily="34" charset="-120"/>
              </a:rPr>
              <a:t>«Деректер базасы және SQL сұратымдар» пәні бойынша курстық жұмыс</a:t>
            </a:r>
            <a:endParaRPr lang="en-US" sz="1600" dirty="0"/>
          </a:p>
        </p:txBody>
      </p:sp>
      <p:sp>
        <p:nvSpPr>
          <p:cNvPr id="4" name="Text 2"/>
          <p:cNvSpPr txBox="1"/>
          <p:nvPr/>
        </p:nvSpPr>
        <p:spPr>
          <a:xfrm>
            <a:off x="548640" y="1874520"/>
            <a:ext cx="6675120" cy="19202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Мемлекеттік ЖОО-дағы оқу үдерісіне қатысты құжаттарды есепке алуға арналған деректер базасы</a:t>
            </a:r>
            <a:endParaRPr lang="en-US" sz="3000" dirty="0"/>
          </a:p>
        </p:txBody>
      </p:sp>
      <p:sp>
        <p:nvSpPr>
          <p:cNvPr id="5" name="Text 3"/>
          <p:cNvSpPr txBox="1"/>
          <p:nvPr/>
        </p:nvSpPr>
        <p:spPr>
          <a:xfrm>
            <a:off x="548640" y="3931920"/>
            <a:ext cx="667512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EduDocs</a:t>
            </a:r>
            <a:pPr indent="0" marL="0">
              <a:buNone/>
            </a:pPr>
            <a:r>
              <a:rPr lang="en-US" sz="2000" dirty="0">
                <a:solidFill>
                  <a:srgbClr val="CADCFC"/>
                </a:solidFill>
                <a:latin typeface="Calibri" pitchFamily="34" charset="0"/>
                <a:ea typeface="Calibri" pitchFamily="34" charset="-122"/>
                <a:cs typeface="Calibri" pitchFamily="34" charset="-120"/>
              </a:rPr>
              <a:t>   Python · SQLite · PyCharm</a:t>
            </a:r>
            <a:endParaRPr lang="en-US" sz="2000" dirty="0"/>
          </a:p>
        </p:txBody>
      </p:sp>
      <p:sp>
        <p:nvSpPr>
          <p:cNvPr id="6" name="Text 4"/>
          <p:cNvSpPr txBox="1"/>
          <p:nvPr/>
        </p:nvSpPr>
        <p:spPr>
          <a:xfrm>
            <a:off x="548640" y="4983480"/>
            <a:ext cx="6949440" cy="1097280"/>
          </a:xfrm>
          <a:prstGeom prst="rect">
            <a:avLst/>
          </a:prstGeom>
          <a:noFill/>
          <a:ln/>
        </p:spPr>
        <p:txBody>
          <a:bodyPr wrap="square" lIns="0" tIns="0" rIns="0" bIns="0" rtlCol="0" anchor="ctr"/>
          <a:lstStyle/>
          <a:p>
            <a:pPr indent="0" marL="0">
              <a:spcAft>
                <a:spcPts val="400"/>
              </a:spcAft>
              <a:buNone/>
            </a:pPr>
            <a:r>
              <a:rPr lang="en-US" sz="1400" dirty="0">
                <a:solidFill>
                  <a:srgbClr val="CADCFC"/>
                </a:solidFill>
                <a:latin typeface="Calibri" pitchFamily="34" charset="0"/>
                <a:ea typeface="Calibri" pitchFamily="34" charset="-122"/>
                <a:cs typeface="Calibri" pitchFamily="34" charset="-120"/>
              </a:rPr>
              <a:t>Орындағандар: Ербол Елқұт, Авьдал Бахатбек · 6B06112 «Жасанды интеллект технологиялары», 2-курс</a:t>
            </a:r>
            <a:pPr indent="0" marL="0">
              <a:spcAft>
                <a:spcPts val="400"/>
              </a:spcAft>
              <a:buNone/>
            </a:pPr>
            <a:endParaRPr lang="en-US" sz="1400" dirty="0"/>
          </a:p>
          <a:p>
            <a:pPr indent="0" marL="0">
              <a:spcAft>
                <a:spcPts val="400"/>
              </a:spcAft>
              <a:buNone/>
            </a:pPr>
            <a:r>
              <a:rPr lang="en-US" sz="1400" dirty="0">
                <a:solidFill>
                  <a:srgbClr val="CADCFC"/>
                </a:solidFill>
                <a:latin typeface="Calibri" pitchFamily="34" charset="0"/>
                <a:ea typeface="Calibri" pitchFamily="34" charset="-122"/>
                <a:cs typeface="Calibri" pitchFamily="34" charset="-120"/>
              </a:rPr>
              <a:t>Ғылыми жетекші: Елибаева Г.К., магистр, аға оқытушы</a:t>
            </a:r>
            <a:pPr indent="0" marL="0">
              <a:spcAft>
                <a:spcPts val="400"/>
              </a:spcAft>
              <a:buNone/>
            </a:pPr>
            <a:endParaRPr lang="en-US" sz="1400" dirty="0"/>
          </a:p>
          <a:p>
            <a:pPr indent="0" marL="0">
              <a:spcAft>
                <a:spcPts val="400"/>
              </a:spcAft>
              <a:buNone/>
            </a:pPr>
            <a:r>
              <a:rPr lang="en-US" sz="1400" dirty="0">
                <a:solidFill>
                  <a:srgbClr val="CADCFC"/>
                </a:solidFill>
                <a:latin typeface="Calibri" pitchFamily="34" charset="0"/>
                <a:ea typeface="Calibri" pitchFamily="34" charset="-122"/>
                <a:cs typeface="Calibri" pitchFamily="34" charset="-120"/>
              </a:rPr>
              <a:t>Астана, 2026</a:t>
            </a:r>
            <a:endParaRPr lang="en-US" sz="1400" dirty="0"/>
          </a:p>
        </p:txBody>
      </p:sp>
      <p:sp>
        <p:nvSpPr>
          <p:cNvPr id="7" name="Shape 5"/>
          <p:cNvSpPr/>
          <p:nvPr/>
        </p:nvSpPr>
        <p:spPr>
          <a:xfrm>
            <a:off x="7580376" y="1362456"/>
            <a:ext cx="4178808" cy="2729783"/>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8000"/>
              </a:srgbClr>
            </a:outerShdw>
          </a:effectLst>
        </p:spPr>
        <p:txBody>
          <a:bodyPr/>
          <a:p/>
        </p:txBody>
      </p:sp>
      <p:pic>
        <p:nvPicPr>
          <p:cNvPr id="8" name="Image 0" descr="C:/Users/Administrator/k/Claude_EduDocs/figures/gui/01_dashboard.png">    </p:cNvPr>
          <p:cNvPicPr>
            <a:picLocks noChangeAspect="1"/>
          </p:cNvPicPr>
          <p:nvPr/>
        </p:nvPicPr>
        <p:blipFill>
          <a:blip r:embed="rId5"/>
          <a:srcRect l="1467" r="1467"/>
          <a:stretch>
            <a:fillRect/>
          </a:stretch>
        </p:blipFill>
        <p:spPr>
          <a:xfrm>
            <a:off x="7635240" y="1417320"/>
            <a:ext cx="4069080" cy="2620055"/>
          </a:xfrm>
          <a:prstGeom prst="rect">
            <a:avLst/>
          </a:prstGeom>
        </p:spPr>
      </p:pic>
      <p:sp>
        <p:nvSpPr>
          <p:cNvPr id="9" name="Text 6"/>
          <p:cNvSpPr txBox="1"/>
          <p:nvPr/>
        </p:nvSpPr>
        <p:spPr>
          <a:xfrm>
            <a:off x="7635240" y="4174535"/>
            <a:ext cx="4069080" cy="2743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EduDocs веб-қосымшасының басты беті</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Өзектілігі және мақсаты</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1234440"/>
            <a:ext cx="5303520" cy="411480"/>
          </a:xfrm>
          <a:prstGeom prst="rect">
            <a:avLst/>
          </a:prstGeom>
          <a:noFill/>
          <a:ln/>
        </p:spPr>
        <p:txBody>
          <a:bodyPr wrap="square" lIns="0" tIns="0" rIns="0" bIns="0" rtlCol="0" anchor="ctr"/>
          <a:lstStyle/>
          <a:p>
            <a:pPr indent="0" marL="0">
              <a:buNone/>
            </a:pPr>
            <a:r>
              <a:rPr lang="en-US" sz="2000" b="1" dirty="0">
                <a:solidFill>
                  <a:srgbClr val="9C2F2F"/>
                </a:solidFill>
                <a:latin typeface="Cambria" pitchFamily="34" charset="0"/>
                <a:ea typeface="Cambria" pitchFamily="34" charset="-122"/>
                <a:cs typeface="Cambria" pitchFamily="34" charset="-120"/>
              </a:rPr>
              <a:t>Мәселе</a:t>
            </a:r>
            <a:endParaRPr lang="en-US" sz="2000" dirty="0"/>
          </a:p>
        </p:txBody>
      </p:sp>
      <p:sp>
        <p:nvSpPr>
          <p:cNvPr id="6" name="Shape 4"/>
          <p:cNvSpPr/>
          <p:nvPr/>
        </p:nvSpPr>
        <p:spPr>
          <a:xfrm>
            <a:off x="548640" y="1783080"/>
            <a:ext cx="566928" cy="566928"/>
          </a:xfrm>
          <a:prstGeom prst="ellipse">
            <a:avLst/>
          </a:prstGeom>
          <a:solidFill>
            <a:srgbClr val="9C2F2F"/>
          </a:solidFill>
          <a:ln w="12700">
            <a:solidFill>
              <a:srgbClr val="9C2F2F"/>
            </a:solidFill>
            <a:prstDash val="solid"/>
          </a:ln>
        </p:spPr>
      </p:sp>
      <p:pic>
        <p:nvPicPr>
          <p:cNvPr id="7" name="Image 0" descr="C:\Users\Administrator\AppData\Local\Temp\claude\C--Users-Administrator\3bae1df8-6f55-4fee-a59f-2e7e3d58a40d\scratchpad\deck\icons\folder_w.png">    </p:cNvPr>
          <p:cNvPicPr>
            <a:picLocks noChangeAspect="1"/>
          </p:cNvPicPr>
          <p:nvPr/>
        </p:nvPicPr>
        <p:blipFill>
          <a:blip r:embed="rId1"/>
          <a:stretch>
            <a:fillRect/>
          </a:stretch>
        </p:blipFill>
        <p:spPr>
          <a:xfrm>
            <a:off x="662026" y="1896466"/>
            <a:ext cx="340157" cy="340157"/>
          </a:xfrm>
          <a:prstGeom prst="rect">
            <a:avLst/>
          </a:prstGeom>
        </p:spPr>
      </p:pic>
      <p:sp>
        <p:nvSpPr>
          <p:cNvPr id="8" name="Text 5"/>
          <p:cNvSpPr txBox="1"/>
          <p:nvPr/>
        </p:nvSpPr>
        <p:spPr>
          <a:xfrm>
            <a:off x="1280160" y="1737360"/>
            <a:ext cx="4572000" cy="658368"/>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Құжаттар кафедраларда, тіркеу офисінде, кеңседе – бөлек журналдар мен Excel кестелерінде жүргізіледі</a:t>
            </a:r>
            <a:endParaRPr lang="en-US" sz="1500" dirty="0"/>
          </a:p>
        </p:txBody>
      </p:sp>
      <p:sp>
        <p:nvSpPr>
          <p:cNvPr id="9" name="Shape 6"/>
          <p:cNvSpPr/>
          <p:nvPr/>
        </p:nvSpPr>
        <p:spPr>
          <a:xfrm>
            <a:off x="548640" y="2651760"/>
            <a:ext cx="566928" cy="566928"/>
          </a:xfrm>
          <a:prstGeom prst="ellipse">
            <a:avLst/>
          </a:prstGeom>
          <a:solidFill>
            <a:srgbClr val="9C2F2F"/>
          </a:solidFill>
          <a:ln w="12700">
            <a:solidFill>
              <a:srgbClr val="9C2F2F"/>
            </a:solidFill>
            <a:prstDash val="solid"/>
          </a:ln>
        </p:spPr>
      </p:sp>
      <p:pic>
        <p:nvPicPr>
          <p:cNvPr id="10" name="Image 1" descr="C:\Users\Administrator\AppData\Local\Temp\claude\C--Users-Administrator\3bae1df8-6f55-4fee-a59f-2e7e3d58a40d\scratchpad\deck\icons\question_w.png">    </p:cNvPr>
          <p:cNvPicPr>
            <a:picLocks noChangeAspect="1"/>
          </p:cNvPicPr>
          <p:nvPr/>
        </p:nvPicPr>
        <p:blipFill>
          <a:blip r:embed="rId2"/>
          <a:stretch>
            <a:fillRect/>
          </a:stretch>
        </p:blipFill>
        <p:spPr>
          <a:xfrm>
            <a:off x="662026" y="2765146"/>
            <a:ext cx="340157" cy="340157"/>
          </a:xfrm>
          <a:prstGeom prst="rect">
            <a:avLst/>
          </a:prstGeom>
        </p:spPr>
      </p:pic>
      <p:sp>
        <p:nvSpPr>
          <p:cNvPr id="11" name="Text 7"/>
          <p:cNvSpPr txBox="1"/>
          <p:nvPr/>
        </p:nvSpPr>
        <p:spPr>
          <a:xfrm>
            <a:off x="1280160" y="2606040"/>
            <a:ext cx="4572000" cy="658368"/>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Құжаттың қай сатыда тұрғаны және кім жауапты екені белгісіз</a:t>
            </a:r>
            <a:endParaRPr lang="en-US" sz="1500" dirty="0"/>
          </a:p>
        </p:txBody>
      </p:sp>
      <p:sp>
        <p:nvSpPr>
          <p:cNvPr id="12" name="Shape 8"/>
          <p:cNvSpPr/>
          <p:nvPr/>
        </p:nvSpPr>
        <p:spPr>
          <a:xfrm>
            <a:off x="548640" y="3520440"/>
            <a:ext cx="566928" cy="566928"/>
          </a:xfrm>
          <a:prstGeom prst="ellipse">
            <a:avLst/>
          </a:prstGeom>
          <a:solidFill>
            <a:srgbClr val="9C2F2F"/>
          </a:solidFill>
          <a:ln w="12700">
            <a:solidFill>
              <a:srgbClr val="9C2F2F"/>
            </a:solidFill>
            <a:prstDash val="solid"/>
          </a:ln>
        </p:spPr>
      </p:sp>
      <p:pic>
        <p:nvPicPr>
          <p:cNvPr id="13" name="Image 2" descr="C:\Users\Administrator\AppData\Local\Temp\claude\C--Users-Administrator\3bae1df8-6f55-4fee-a59f-2e7e3d58a40d\scratchpad\deck\icons\search_w.png">    </p:cNvPr>
          <p:cNvPicPr>
            <a:picLocks noChangeAspect="1"/>
          </p:cNvPicPr>
          <p:nvPr/>
        </p:nvPicPr>
        <p:blipFill>
          <a:blip r:embed="rId3"/>
          <a:stretch>
            <a:fillRect/>
          </a:stretch>
        </p:blipFill>
        <p:spPr>
          <a:xfrm>
            <a:off x="662026" y="3633826"/>
            <a:ext cx="340157" cy="340157"/>
          </a:xfrm>
          <a:prstGeom prst="rect">
            <a:avLst/>
          </a:prstGeom>
        </p:spPr>
      </p:pic>
      <p:sp>
        <p:nvSpPr>
          <p:cNvPr id="14" name="Text 9"/>
          <p:cNvSpPr txBox="1"/>
          <p:nvPr/>
        </p:nvSpPr>
        <p:spPr>
          <a:xfrm>
            <a:off x="1280160" y="3474720"/>
            <a:ext cx="4572000" cy="658368"/>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Құжатты пән, топ немесе білім алушы бойынша іздеу ұзаққа созылады</a:t>
            </a:r>
            <a:endParaRPr lang="en-US" sz="1500" dirty="0"/>
          </a:p>
        </p:txBody>
      </p:sp>
      <p:sp>
        <p:nvSpPr>
          <p:cNvPr id="15" name="Shape 10"/>
          <p:cNvSpPr/>
          <p:nvPr/>
        </p:nvSpPr>
        <p:spPr>
          <a:xfrm>
            <a:off x="548640" y="4389120"/>
            <a:ext cx="566928" cy="566928"/>
          </a:xfrm>
          <a:prstGeom prst="ellipse">
            <a:avLst/>
          </a:prstGeom>
          <a:solidFill>
            <a:srgbClr val="9C2F2F"/>
          </a:solidFill>
          <a:ln w="12700">
            <a:solidFill>
              <a:srgbClr val="9C2F2F"/>
            </a:solidFill>
            <a:prstDash val="solid"/>
          </a:ln>
        </p:spPr>
      </p:sp>
      <p:pic>
        <p:nvPicPr>
          <p:cNvPr id="16" name="Image 3" descr="C:\Users\Administrator\AppData\Local\Temp\claude\C--Users-Administrator\3bae1df8-6f55-4fee-a59f-2e7e3d58a40d\scratchpad\deck\icons\calendar_w.png">    </p:cNvPr>
          <p:cNvPicPr>
            <a:picLocks noChangeAspect="1"/>
          </p:cNvPicPr>
          <p:nvPr/>
        </p:nvPicPr>
        <p:blipFill>
          <a:blip r:embed="rId4"/>
          <a:stretch>
            <a:fillRect/>
          </a:stretch>
        </p:blipFill>
        <p:spPr>
          <a:xfrm>
            <a:off x="662026" y="4502506"/>
            <a:ext cx="340157" cy="340157"/>
          </a:xfrm>
          <a:prstGeom prst="rect">
            <a:avLst/>
          </a:prstGeom>
        </p:spPr>
      </p:pic>
      <p:sp>
        <p:nvSpPr>
          <p:cNvPr id="17" name="Text 11"/>
          <p:cNvSpPr txBox="1"/>
          <p:nvPr/>
        </p:nvSpPr>
        <p:spPr>
          <a:xfrm>
            <a:off x="1280160" y="4343400"/>
            <a:ext cx="4572000" cy="658368"/>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Сақтау мерзімі мен мұрағатқа тапсыру қолмен бақыланады</a:t>
            </a:r>
            <a:endParaRPr lang="en-US" sz="1500" dirty="0"/>
          </a:p>
        </p:txBody>
      </p:sp>
      <p:sp>
        <p:nvSpPr>
          <p:cNvPr id="18" name="Shape 12"/>
          <p:cNvSpPr/>
          <p:nvPr/>
        </p:nvSpPr>
        <p:spPr>
          <a:xfrm>
            <a:off x="6263640" y="1188720"/>
            <a:ext cx="5394960" cy="4160520"/>
          </a:xfrm>
          <a:prstGeom prst="roundRect">
            <a:avLst>
              <a:gd name="adj" fmla="val 1758"/>
            </a:avLst>
          </a:prstGeom>
          <a:solidFill>
            <a:srgbClr val="EEF4F4"/>
          </a:solidFill>
          <a:ln w="9525">
            <a:solidFill>
              <a:srgbClr val="C9DCDC"/>
            </a:solidFill>
            <a:prstDash val="solid"/>
          </a:ln>
        </p:spPr>
      </p:sp>
      <p:sp>
        <p:nvSpPr>
          <p:cNvPr id="19" name="Text 13"/>
          <p:cNvSpPr txBox="1"/>
          <p:nvPr/>
        </p:nvSpPr>
        <p:spPr>
          <a:xfrm>
            <a:off x="6537960" y="1325880"/>
            <a:ext cx="4937760" cy="411480"/>
          </a:xfrm>
          <a:prstGeom prst="rect">
            <a:avLst/>
          </a:prstGeom>
          <a:noFill/>
          <a:ln/>
        </p:spPr>
        <p:txBody>
          <a:bodyPr wrap="square" lIns="0" tIns="0" rIns="0" bIns="0" rtlCol="0" anchor="ctr"/>
          <a:lstStyle/>
          <a:p>
            <a:pPr indent="0" marL="0">
              <a:buNone/>
            </a:pPr>
            <a:r>
              <a:rPr lang="en-US" sz="2000" b="1" dirty="0">
                <a:solidFill>
                  <a:srgbClr val="2E6F6F"/>
                </a:solidFill>
                <a:latin typeface="Cambria" pitchFamily="34" charset="0"/>
                <a:ea typeface="Cambria" pitchFamily="34" charset="-122"/>
                <a:cs typeface="Cambria" pitchFamily="34" charset="-120"/>
              </a:rPr>
              <a:t>Шешім – реляциялық деректер базасы</a:t>
            </a:r>
            <a:endParaRPr lang="en-US" sz="2000" dirty="0"/>
          </a:p>
        </p:txBody>
      </p:sp>
      <p:sp>
        <p:nvSpPr>
          <p:cNvPr id="20" name="Shape 14"/>
          <p:cNvSpPr/>
          <p:nvPr/>
        </p:nvSpPr>
        <p:spPr>
          <a:xfrm>
            <a:off x="6537960" y="1920240"/>
            <a:ext cx="548640" cy="548640"/>
          </a:xfrm>
          <a:prstGeom prst="ellipse">
            <a:avLst/>
          </a:prstGeom>
          <a:solidFill>
            <a:srgbClr val="2E6F6F"/>
          </a:solidFill>
          <a:ln w="12700">
            <a:solidFill>
              <a:srgbClr val="2E6F6F"/>
            </a:solidFill>
            <a:prstDash val="solid"/>
          </a:ln>
        </p:spPr>
      </p:sp>
      <p:pic>
        <p:nvPicPr>
          <p:cNvPr id="21" name="Image 4" descr="C:\Users\Administrator\AppData\Local\Temp\claude\C--Users-Administrator\3bae1df8-6f55-4fee-a59f-2e7e3d58a40d\scratchpad\deck\icons\doc_w.png">    </p:cNvPr>
          <p:cNvPicPr>
            <a:picLocks noChangeAspect="1"/>
          </p:cNvPicPr>
          <p:nvPr/>
        </p:nvPicPr>
        <p:blipFill>
          <a:blip r:embed="rId5"/>
          <a:stretch>
            <a:fillRect/>
          </a:stretch>
        </p:blipFill>
        <p:spPr>
          <a:xfrm>
            <a:off x="6647688" y="2029968"/>
            <a:ext cx="329184" cy="329184"/>
          </a:xfrm>
          <a:prstGeom prst="rect">
            <a:avLst/>
          </a:prstGeom>
        </p:spPr>
      </p:pic>
      <p:sp>
        <p:nvSpPr>
          <p:cNvPr id="22" name="Text 15"/>
          <p:cNvSpPr txBox="1"/>
          <p:nvPr/>
        </p:nvSpPr>
        <p:spPr>
          <a:xfrm>
            <a:off x="7269480" y="1874520"/>
            <a:ext cx="420624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Бір тізілім: 8 құжат түрі, бірегей тіркеу нөмірі</a:t>
            </a:r>
            <a:endParaRPr lang="en-US" sz="1500" dirty="0"/>
          </a:p>
        </p:txBody>
      </p:sp>
      <p:sp>
        <p:nvSpPr>
          <p:cNvPr id="23" name="Shape 16"/>
          <p:cNvSpPr/>
          <p:nvPr/>
        </p:nvSpPr>
        <p:spPr>
          <a:xfrm>
            <a:off x="6537960" y="2770632"/>
            <a:ext cx="548640" cy="548640"/>
          </a:xfrm>
          <a:prstGeom prst="ellipse">
            <a:avLst/>
          </a:prstGeom>
          <a:solidFill>
            <a:srgbClr val="2E6F6F"/>
          </a:solidFill>
          <a:ln w="12700">
            <a:solidFill>
              <a:srgbClr val="2E6F6F"/>
            </a:solidFill>
            <a:prstDash val="solid"/>
          </a:ln>
        </p:spPr>
      </p:sp>
      <p:pic>
        <p:nvPicPr>
          <p:cNvPr id="24" name="Image 5" descr="C:\Users\Administrator\AppData\Local\Temp\claude\C--Users-Administrator\3bae1df8-6f55-4fee-a59f-2e7e3d58a40d\scratchpad\deck\icons\history_w.png">    </p:cNvPr>
          <p:cNvPicPr>
            <a:picLocks noChangeAspect="1"/>
          </p:cNvPicPr>
          <p:nvPr/>
        </p:nvPicPr>
        <p:blipFill>
          <a:blip r:embed="rId6"/>
          <a:stretch>
            <a:fillRect/>
          </a:stretch>
        </p:blipFill>
        <p:spPr>
          <a:xfrm>
            <a:off x="6647688" y="2880360"/>
            <a:ext cx="329184" cy="329184"/>
          </a:xfrm>
          <a:prstGeom prst="rect">
            <a:avLst/>
          </a:prstGeom>
        </p:spPr>
      </p:pic>
      <p:sp>
        <p:nvSpPr>
          <p:cNvPr id="25" name="Text 17"/>
          <p:cNvSpPr txBox="1"/>
          <p:nvPr/>
        </p:nvSpPr>
        <p:spPr>
          <a:xfrm>
            <a:off x="7269480" y="2724912"/>
            <a:ext cx="420624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Құжат мәртебесі (CHECK), бекітілгенін триггер қорғайды</a:t>
            </a:r>
            <a:endParaRPr lang="en-US" sz="1500" dirty="0"/>
          </a:p>
        </p:txBody>
      </p:sp>
      <p:sp>
        <p:nvSpPr>
          <p:cNvPr id="26" name="Shape 18"/>
          <p:cNvSpPr/>
          <p:nvPr/>
        </p:nvSpPr>
        <p:spPr>
          <a:xfrm>
            <a:off x="6537960" y="3621024"/>
            <a:ext cx="548640" cy="548640"/>
          </a:xfrm>
          <a:prstGeom prst="ellipse">
            <a:avLst/>
          </a:prstGeom>
          <a:solidFill>
            <a:srgbClr val="2E6F6F"/>
          </a:solidFill>
          <a:ln w="12700">
            <a:solidFill>
              <a:srgbClr val="2E6F6F"/>
            </a:solidFill>
            <a:prstDash val="solid"/>
          </a:ln>
        </p:spPr>
      </p:sp>
      <p:pic>
        <p:nvPicPr>
          <p:cNvPr id="27" name="Image 6" descr="C:\Users\Administrator\AppData\Local\Temp\claude\C--Users-Administrator\3bae1df8-6f55-4fee-a59f-2e7e3d58a40d\scratchpad\deck\icons\report_w.png">    </p:cNvPr>
          <p:cNvPicPr>
            <a:picLocks noChangeAspect="1"/>
          </p:cNvPicPr>
          <p:nvPr/>
        </p:nvPicPr>
        <p:blipFill>
          <a:blip r:embed="rId7"/>
          <a:stretch>
            <a:fillRect/>
          </a:stretch>
        </p:blipFill>
        <p:spPr>
          <a:xfrm>
            <a:off x="6647688" y="3730752"/>
            <a:ext cx="329184" cy="329184"/>
          </a:xfrm>
          <a:prstGeom prst="rect">
            <a:avLst/>
          </a:prstGeom>
        </p:spPr>
      </p:pic>
      <p:sp>
        <p:nvSpPr>
          <p:cNvPr id="28" name="Text 19"/>
          <p:cNvSpPr txBox="1"/>
          <p:nvPr/>
        </p:nvSpPr>
        <p:spPr>
          <a:xfrm>
            <a:off x="7269480" y="3575304"/>
            <a:ext cx="420624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Іздеу, сүзгілеу, сұрыптау және 8 дайын SQL есеп</a:t>
            </a:r>
            <a:endParaRPr lang="en-US" sz="1500" dirty="0"/>
          </a:p>
        </p:txBody>
      </p:sp>
      <p:sp>
        <p:nvSpPr>
          <p:cNvPr id="29" name="Shape 20"/>
          <p:cNvSpPr/>
          <p:nvPr/>
        </p:nvSpPr>
        <p:spPr>
          <a:xfrm>
            <a:off x="6537960" y="4471416"/>
            <a:ext cx="548640" cy="548640"/>
          </a:xfrm>
          <a:prstGeom prst="ellipse">
            <a:avLst/>
          </a:prstGeom>
          <a:solidFill>
            <a:srgbClr val="2E6F6F"/>
          </a:solidFill>
          <a:ln w="12700">
            <a:solidFill>
              <a:srgbClr val="2E6F6F"/>
            </a:solidFill>
            <a:prstDash val="solid"/>
          </a:ln>
        </p:spPr>
      </p:sp>
      <p:pic>
        <p:nvPicPr>
          <p:cNvPr id="30" name="Image 7" descr="C:\Users\Administrator\AppData\Local\Temp\claude\C--Users-Administrator\3bae1df8-6f55-4fee-a59f-2e7e3d58a40d\scratchpad\deck\icons\code_w.png">    </p:cNvPr>
          <p:cNvPicPr>
            <a:picLocks noChangeAspect="1"/>
          </p:cNvPicPr>
          <p:nvPr/>
        </p:nvPicPr>
        <p:blipFill>
          <a:blip r:embed="rId8"/>
          <a:stretch>
            <a:fillRect/>
          </a:stretch>
        </p:blipFill>
        <p:spPr>
          <a:xfrm>
            <a:off x="6647688" y="4581144"/>
            <a:ext cx="329184" cy="329184"/>
          </a:xfrm>
          <a:prstGeom prst="rect">
            <a:avLst/>
          </a:prstGeom>
        </p:spPr>
      </p:pic>
      <p:sp>
        <p:nvSpPr>
          <p:cNvPr id="31" name="Text 21"/>
          <p:cNvSpPr txBox="1"/>
          <p:nvPr/>
        </p:nvSpPr>
        <p:spPr>
          <a:xfrm>
            <a:off x="7269480" y="4425696"/>
            <a:ext cx="420624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Python + SQLite + PyCharm: сервер мен қосымша пакетсіз</a:t>
            </a:r>
            <a:endParaRPr lang="en-US" sz="1500" dirty="0"/>
          </a:p>
        </p:txBody>
      </p:sp>
      <p:sp>
        <p:nvSpPr>
          <p:cNvPr id="32" name="Shape 22"/>
          <p:cNvSpPr/>
          <p:nvPr/>
        </p:nvSpPr>
        <p:spPr>
          <a:xfrm>
            <a:off x="548640" y="5532120"/>
            <a:ext cx="11109960" cy="685800"/>
          </a:xfrm>
          <a:prstGeom prst="roundRect">
            <a:avLst>
              <a:gd name="adj" fmla="val 10667"/>
            </a:avLst>
          </a:prstGeom>
          <a:solidFill>
            <a:srgbClr val="E6ECF4"/>
          </a:solidFill>
          <a:ln w="9525">
            <a:solidFill>
              <a:srgbClr val="C5D2E3"/>
            </a:solidFill>
            <a:prstDash val="solid"/>
          </a:ln>
        </p:spPr>
      </p:sp>
      <p:sp>
        <p:nvSpPr>
          <p:cNvPr id="33" name="Text 23"/>
          <p:cNvSpPr txBox="1"/>
          <p:nvPr/>
        </p:nvSpPr>
        <p:spPr>
          <a:xfrm>
            <a:off x="777240" y="5577840"/>
            <a:ext cx="10698480" cy="5943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Мақсат: </a:t>
            </a:r>
            <a:pPr indent="0" marL="0">
              <a:buNone/>
            </a:pPr>
            <a:r>
              <a:rPr lang="en-US" sz="1500" dirty="0">
                <a:solidFill>
                  <a:srgbClr val="1F2937"/>
                </a:solidFill>
                <a:latin typeface="Calibri" pitchFamily="34" charset="0"/>
                <a:ea typeface="Calibri" pitchFamily="34" charset="-122"/>
                <a:cs typeface="Calibri" pitchFamily="34" charset="-120"/>
              </a:rPr>
              <a:t>Python SQLite ДББЖ негізінде PyCharm ортасында оқу үдерісі құжаттарын есепке алатын реляциялық деректер базасы мен қосымшаны әзірлеу</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Курстық жұмыстың міндеттері және орындалуы</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48640" y="1280160"/>
            <a:ext cx="3566160" cy="1188720"/>
          </a:xfrm>
          <a:prstGeom prst="roundRect">
            <a:avLst>
              <a:gd name="adj" fmla="val 6154"/>
            </a:avLst>
          </a:prstGeom>
          <a:solidFill>
            <a:srgbClr val="F3F5F8"/>
          </a:solidFill>
          <a:ln w="9525">
            <a:solidFill>
              <a:srgbClr val="D5DBE3"/>
            </a:solidFill>
            <a:prstDash val="solid"/>
          </a:ln>
        </p:spPr>
        <p:txBody>
          <a:bodyPr/>
          <a:p/>
        </p:txBody>
      </p:sp>
      <p:sp>
        <p:nvSpPr>
          <p:cNvPr id="6" name="Shape 4"/>
          <p:cNvSpPr/>
          <p:nvPr/>
        </p:nvSpPr>
        <p:spPr>
          <a:xfrm>
            <a:off x="731520" y="1581912"/>
            <a:ext cx="566928" cy="566928"/>
          </a:xfrm>
          <a:prstGeom prst="ellipse">
            <a:avLst/>
          </a:prstGeom>
          <a:solidFill>
            <a:srgbClr val="2E6F6F"/>
          </a:solidFill>
          <a:ln w="12700">
            <a:solidFill>
              <a:srgbClr val="2E6F6F"/>
            </a:solidFill>
            <a:prstDash val="solid"/>
          </a:ln>
        </p:spPr>
        <p:txBody>
          <a:bodyPr/>
          <a:p/>
        </p:txBody>
      </p:sp>
      <p:pic>
        <p:nvPicPr>
          <p:cNvPr id="7" name="Image 0" descr="C:\Users\Administrator\AppData\Local\Temp\claude\C--Users-Administrator\3bae1df8-6f55-4fee-a59f-2e7e3d58a40d\scratchpad\deck\icons\check_w.png">    </p:cNvPr>
          <p:cNvPicPr>
            <a:picLocks noChangeAspect="1"/>
          </p:cNvPicPr>
          <p:nvPr/>
        </p:nvPicPr>
        <p:blipFill>
          <a:blip r:embed="rId1"/>
          <a:stretch>
            <a:fillRect/>
          </a:stretch>
        </p:blipFill>
        <p:spPr>
          <a:xfrm>
            <a:off x="844906" y="1695298"/>
            <a:ext cx="340157" cy="340157"/>
          </a:xfrm>
          <a:prstGeom prst="rect">
            <a:avLst/>
          </a:prstGeom>
        </p:spPr>
      </p:pic>
      <p:sp>
        <p:nvSpPr>
          <p:cNvPr id="8" name="Text 5"/>
          <p:cNvSpPr txBox="1"/>
          <p:nvPr/>
        </p:nvSpPr>
        <p:spPr>
          <a:xfrm>
            <a:off x="1463040" y="1426464"/>
            <a:ext cx="256032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ДБ құру, қосу және ажырату</a:t>
            </a:r>
            <a:endParaRPr lang="en-US" sz="1500" dirty="0"/>
          </a:p>
        </p:txBody>
      </p:sp>
      <p:sp>
        <p:nvSpPr>
          <p:cNvPr id="9" name="Text 6"/>
          <p:cNvSpPr txBox="1"/>
          <p:nvPr/>
        </p:nvSpPr>
        <p:spPr>
          <a:xfrm>
            <a:off x="1463040" y="1975104"/>
            <a:ext cx="2560320" cy="34747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step01 · connect, ATTACH</a:t>
            </a:r>
            <a:endParaRPr lang="en-US" sz="1200" dirty="0"/>
          </a:p>
        </p:txBody>
      </p:sp>
      <p:sp>
        <p:nvSpPr>
          <p:cNvPr id="10" name="Shape 7"/>
          <p:cNvSpPr/>
          <p:nvPr/>
        </p:nvSpPr>
        <p:spPr>
          <a:xfrm>
            <a:off x="4297680" y="1280160"/>
            <a:ext cx="3566160" cy="1188720"/>
          </a:xfrm>
          <a:prstGeom prst="roundRect">
            <a:avLst>
              <a:gd name="adj" fmla="val 6154"/>
            </a:avLst>
          </a:prstGeom>
          <a:solidFill>
            <a:srgbClr val="F3F5F8"/>
          </a:solidFill>
          <a:ln w="9525">
            <a:solidFill>
              <a:srgbClr val="D5DBE3"/>
            </a:solidFill>
            <a:prstDash val="solid"/>
          </a:ln>
        </p:spPr>
        <p:txBody>
          <a:bodyPr/>
          <a:p/>
        </p:txBody>
      </p:sp>
      <p:sp>
        <p:nvSpPr>
          <p:cNvPr id="11" name="Shape 8"/>
          <p:cNvSpPr/>
          <p:nvPr/>
        </p:nvSpPr>
        <p:spPr>
          <a:xfrm>
            <a:off x="4480560" y="1581912"/>
            <a:ext cx="566928" cy="566928"/>
          </a:xfrm>
          <a:prstGeom prst="ellipse">
            <a:avLst/>
          </a:prstGeom>
          <a:solidFill>
            <a:srgbClr val="2E6F6F"/>
          </a:solidFill>
          <a:ln w="12700">
            <a:solidFill>
              <a:srgbClr val="2E6F6F"/>
            </a:solidFill>
            <a:prstDash val="solid"/>
          </a:ln>
        </p:spPr>
        <p:txBody>
          <a:bodyPr/>
          <a:p/>
        </p:txBody>
      </p:sp>
      <p:pic>
        <p:nvPicPr>
          <p:cNvPr id="12" name="Image 1" descr="C:\Users\Administrator\AppData\Local\Temp\claude\C--Users-Administrator\3bae1df8-6f55-4fee-a59f-2e7e3d58a40d\scratchpad\deck\icons\check_w.png">    </p:cNvPr>
          <p:cNvPicPr>
            <a:picLocks noChangeAspect="1"/>
          </p:cNvPicPr>
          <p:nvPr/>
        </p:nvPicPr>
        <p:blipFill>
          <a:blip r:embed="rId2"/>
          <a:stretch>
            <a:fillRect/>
          </a:stretch>
        </p:blipFill>
        <p:spPr>
          <a:xfrm>
            <a:off x="4593946" y="1695298"/>
            <a:ext cx="340157" cy="340157"/>
          </a:xfrm>
          <a:prstGeom prst="rect">
            <a:avLst/>
          </a:prstGeom>
        </p:spPr>
      </p:pic>
      <p:sp>
        <p:nvSpPr>
          <p:cNvPr id="13" name="Text 9"/>
          <p:cNvSpPr txBox="1"/>
          <p:nvPr/>
        </p:nvSpPr>
        <p:spPr>
          <a:xfrm>
            <a:off x="5212080" y="1426464"/>
            <a:ext cx="256032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Кестелерді құру</a:t>
            </a:r>
            <a:endParaRPr lang="en-US" sz="1500" dirty="0"/>
          </a:p>
        </p:txBody>
      </p:sp>
      <p:sp>
        <p:nvSpPr>
          <p:cNvPr id="14" name="Text 10"/>
          <p:cNvSpPr txBox="1"/>
          <p:nvPr/>
        </p:nvSpPr>
        <p:spPr>
          <a:xfrm>
            <a:off x="5212080" y="1975104"/>
            <a:ext cx="2560320" cy="34747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step02 · schema.sql, 6 кесте</a:t>
            </a:r>
            <a:endParaRPr lang="en-US" sz="1200" dirty="0"/>
          </a:p>
        </p:txBody>
      </p:sp>
      <p:sp>
        <p:nvSpPr>
          <p:cNvPr id="15" name="Shape 11"/>
          <p:cNvSpPr/>
          <p:nvPr/>
        </p:nvSpPr>
        <p:spPr>
          <a:xfrm>
            <a:off x="8046720" y="1280160"/>
            <a:ext cx="3566160" cy="1188720"/>
          </a:xfrm>
          <a:prstGeom prst="roundRect">
            <a:avLst>
              <a:gd name="adj" fmla="val 6154"/>
            </a:avLst>
          </a:prstGeom>
          <a:solidFill>
            <a:srgbClr val="F3F5F8"/>
          </a:solidFill>
          <a:ln w="9525">
            <a:solidFill>
              <a:srgbClr val="D5DBE3"/>
            </a:solidFill>
            <a:prstDash val="solid"/>
          </a:ln>
        </p:spPr>
        <p:txBody>
          <a:bodyPr/>
          <a:p/>
        </p:txBody>
      </p:sp>
      <p:sp>
        <p:nvSpPr>
          <p:cNvPr id="16" name="Shape 12"/>
          <p:cNvSpPr/>
          <p:nvPr/>
        </p:nvSpPr>
        <p:spPr>
          <a:xfrm>
            <a:off x="8229600" y="1581912"/>
            <a:ext cx="566928" cy="566928"/>
          </a:xfrm>
          <a:prstGeom prst="ellipse">
            <a:avLst/>
          </a:prstGeom>
          <a:solidFill>
            <a:srgbClr val="2E6F6F"/>
          </a:solidFill>
          <a:ln w="12700">
            <a:solidFill>
              <a:srgbClr val="2E6F6F"/>
            </a:solidFill>
            <a:prstDash val="solid"/>
          </a:ln>
        </p:spPr>
        <p:txBody>
          <a:bodyPr/>
          <a:p/>
        </p:txBody>
      </p:sp>
      <p:pic>
        <p:nvPicPr>
          <p:cNvPr id="17" name="Image 2" descr="C:\Users\Administrator\AppData\Local\Temp\claude\C--Users-Administrator\3bae1df8-6f55-4fee-a59f-2e7e3d58a40d\scratchpad\deck\icons\check_w.png">    </p:cNvPr>
          <p:cNvPicPr>
            <a:picLocks noChangeAspect="1"/>
          </p:cNvPicPr>
          <p:nvPr/>
        </p:nvPicPr>
        <p:blipFill>
          <a:blip r:embed="rId3"/>
          <a:stretch>
            <a:fillRect/>
          </a:stretch>
        </p:blipFill>
        <p:spPr>
          <a:xfrm>
            <a:off x="8342986" y="1695298"/>
            <a:ext cx="340157" cy="340157"/>
          </a:xfrm>
          <a:prstGeom prst="rect">
            <a:avLst/>
          </a:prstGeom>
        </p:spPr>
      </p:pic>
      <p:sp>
        <p:nvSpPr>
          <p:cNvPr id="18" name="Text 13"/>
          <p:cNvSpPr txBox="1"/>
          <p:nvPr/>
        </p:nvSpPr>
        <p:spPr>
          <a:xfrm>
            <a:off x="8961120" y="1426464"/>
            <a:ext cx="256032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Кестелер арасында байланыс</a:t>
            </a:r>
            <a:endParaRPr lang="en-US" sz="1500" dirty="0"/>
          </a:p>
        </p:txBody>
      </p:sp>
      <p:sp>
        <p:nvSpPr>
          <p:cNvPr id="19" name="Text 14"/>
          <p:cNvSpPr txBox="1"/>
          <p:nvPr/>
        </p:nvSpPr>
        <p:spPr>
          <a:xfrm>
            <a:off x="8961120" y="1975104"/>
            <a:ext cx="2560320" cy="34747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4 сыртқы кілт: RESTRICT, CASCADE</a:t>
            </a:r>
            <a:endParaRPr lang="en-US" sz="1200" dirty="0"/>
          </a:p>
        </p:txBody>
      </p:sp>
      <p:sp>
        <p:nvSpPr>
          <p:cNvPr id="20" name="Shape 15"/>
          <p:cNvSpPr/>
          <p:nvPr/>
        </p:nvSpPr>
        <p:spPr>
          <a:xfrm>
            <a:off x="548640" y="2651760"/>
            <a:ext cx="3566160" cy="1188720"/>
          </a:xfrm>
          <a:prstGeom prst="roundRect">
            <a:avLst>
              <a:gd name="adj" fmla="val 6154"/>
            </a:avLst>
          </a:prstGeom>
          <a:solidFill>
            <a:srgbClr val="F3F5F8"/>
          </a:solidFill>
          <a:ln w="9525">
            <a:solidFill>
              <a:srgbClr val="D5DBE3"/>
            </a:solidFill>
            <a:prstDash val="solid"/>
          </a:ln>
        </p:spPr>
        <p:txBody>
          <a:bodyPr/>
          <a:p/>
        </p:txBody>
      </p:sp>
      <p:sp>
        <p:nvSpPr>
          <p:cNvPr id="21" name="Shape 16"/>
          <p:cNvSpPr/>
          <p:nvPr/>
        </p:nvSpPr>
        <p:spPr>
          <a:xfrm>
            <a:off x="731520" y="2953512"/>
            <a:ext cx="566928" cy="566928"/>
          </a:xfrm>
          <a:prstGeom prst="ellipse">
            <a:avLst/>
          </a:prstGeom>
          <a:solidFill>
            <a:srgbClr val="2E6F6F"/>
          </a:solidFill>
          <a:ln w="12700">
            <a:solidFill>
              <a:srgbClr val="2E6F6F"/>
            </a:solidFill>
            <a:prstDash val="solid"/>
          </a:ln>
        </p:spPr>
        <p:txBody>
          <a:bodyPr/>
          <a:p/>
        </p:txBody>
      </p:sp>
      <p:pic>
        <p:nvPicPr>
          <p:cNvPr id="22" name="Image 3" descr="C:\Users\Administrator\AppData\Local\Temp\claude\C--Users-Administrator\3bae1df8-6f55-4fee-a59f-2e7e3d58a40d\scratchpad\deck\icons\check_w.png">    </p:cNvPr>
          <p:cNvPicPr>
            <a:picLocks noChangeAspect="1"/>
          </p:cNvPicPr>
          <p:nvPr/>
        </p:nvPicPr>
        <p:blipFill>
          <a:blip r:embed="rId4"/>
          <a:stretch>
            <a:fillRect/>
          </a:stretch>
        </p:blipFill>
        <p:spPr>
          <a:xfrm>
            <a:off x="844906" y="3066898"/>
            <a:ext cx="340157" cy="340157"/>
          </a:xfrm>
          <a:prstGeom prst="rect">
            <a:avLst/>
          </a:prstGeom>
        </p:spPr>
      </p:pic>
      <p:sp>
        <p:nvSpPr>
          <p:cNvPr id="23" name="Text 17"/>
          <p:cNvSpPr txBox="1"/>
          <p:nvPr/>
        </p:nvSpPr>
        <p:spPr>
          <a:xfrm>
            <a:off x="1463040" y="2798064"/>
            <a:ext cx="256032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Деректер базасының диаграммасы</a:t>
            </a:r>
            <a:endParaRPr lang="en-US" sz="1500" dirty="0"/>
          </a:p>
        </p:txBody>
      </p:sp>
      <p:sp>
        <p:nvSpPr>
          <p:cNvPr id="24" name="Text 18"/>
          <p:cNvSpPr txBox="1"/>
          <p:nvPr/>
        </p:nvSpPr>
        <p:spPr>
          <a:xfrm>
            <a:off x="1463040" y="3346704"/>
            <a:ext cx="2560320" cy="34747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step12 · каталогтан автоматты</a:t>
            </a:r>
            <a:endParaRPr lang="en-US" sz="1200" dirty="0"/>
          </a:p>
        </p:txBody>
      </p:sp>
      <p:sp>
        <p:nvSpPr>
          <p:cNvPr id="25" name="Shape 19"/>
          <p:cNvSpPr/>
          <p:nvPr/>
        </p:nvSpPr>
        <p:spPr>
          <a:xfrm>
            <a:off x="4297680" y="2651760"/>
            <a:ext cx="3566160" cy="1188720"/>
          </a:xfrm>
          <a:prstGeom prst="roundRect">
            <a:avLst>
              <a:gd name="adj" fmla="val 6154"/>
            </a:avLst>
          </a:prstGeom>
          <a:solidFill>
            <a:srgbClr val="F3F5F8"/>
          </a:solidFill>
          <a:ln w="9525">
            <a:solidFill>
              <a:srgbClr val="D5DBE3"/>
            </a:solidFill>
            <a:prstDash val="solid"/>
          </a:ln>
        </p:spPr>
        <p:txBody>
          <a:bodyPr/>
          <a:p/>
        </p:txBody>
      </p:sp>
      <p:sp>
        <p:nvSpPr>
          <p:cNvPr id="26" name="Shape 20"/>
          <p:cNvSpPr/>
          <p:nvPr/>
        </p:nvSpPr>
        <p:spPr>
          <a:xfrm>
            <a:off x="4480560" y="2953512"/>
            <a:ext cx="566928" cy="566928"/>
          </a:xfrm>
          <a:prstGeom prst="ellipse">
            <a:avLst/>
          </a:prstGeom>
          <a:solidFill>
            <a:srgbClr val="2E6F6F"/>
          </a:solidFill>
          <a:ln w="12700">
            <a:solidFill>
              <a:srgbClr val="2E6F6F"/>
            </a:solidFill>
            <a:prstDash val="solid"/>
          </a:ln>
        </p:spPr>
        <p:txBody>
          <a:bodyPr/>
          <a:p/>
        </p:txBody>
      </p:sp>
      <p:pic>
        <p:nvPicPr>
          <p:cNvPr id="27" name="Image 4" descr="C:\Users\Administrator\AppData\Local\Temp\claude\C--Users-Administrator\3bae1df8-6f55-4fee-a59f-2e7e3d58a40d\scratchpad\deck\icons\check_w.png">    </p:cNvPr>
          <p:cNvPicPr>
            <a:picLocks noChangeAspect="1"/>
          </p:cNvPicPr>
          <p:nvPr/>
        </p:nvPicPr>
        <p:blipFill>
          <a:blip r:embed="rId5"/>
          <a:stretch>
            <a:fillRect/>
          </a:stretch>
        </p:blipFill>
        <p:spPr>
          <a:xfrm>
            <a:off x="4593946" y="3066898"/>
            <a:ext cx="340157" cy="340157"/>
          </a:xfrm>
          <a:prstGeom prst="rect">
            <a:avLst/>
          </a:prstGeom>
        </p:spPr>
      </p:pic>
      <p:sp>
        <p:nvSpPr>
          <p:cNvPr id="28" name="Text 21"/>
          <p:cNvSpPr txBox="1"/>
          <p:nvPr/>
        </p:nvSpPr>
        <p:spPr>
          <a:xfrm>
            <a:off x="5212080" y="2798064"/>
            <a:ext cx="256032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Деректерді енгізу, өзгерту, жою</a:t>
            </a:r>
            <a:endParaRPr lang="en-US" sz="1500" dirty="0"/>
          </a:p>
        </p:txBody>
      </p:sp>
      <p:sp>
        <p:nvSpPr>
          <p:cNvPr id="29" name="Text 22"/>
          <p:cNvSpPr txBox="1"/>
          <p:nvPr/>
        </p:nvSpPr>
        <p:spPr>
          <a:xfrm>
            <a:off x="5212080" y="3346704"/>
            <a:ext cx="2560320" cy="34747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step03 · step04</a:t>
            </a:r>
            <a:endParaRPr lang="en-US" sz="1200" dirty="0"/>
          </a:p>
        </p:txBody>
      </p:sp>
      <p:sp>
        <p:nvSpPr>
          <p:cNvPr id="30" name="Shape 23"/>
          <p:cNvSpPr/>
          <p:nvPr/>
        </p:nvSpPr>
        <p:spPr>
          <a:xfrm>
            <a:off x="8046720" y="2651760"/>
            <a:ext cx="3566160" cy="1188720"/>
          </a:xfrm>
          <a:prstGeom prst="roundRect">
            <a:avLst>
              <a:gd name="adj" fmla="val 6154"/>
            </a:avLst>
          </a:prstGeom>
          <a:solidFill>
            <a:srgbClr val="F3F5F8"/>
          </a:solidFill>
          <a:ln w="9525">
            <a:solidFill>
              <a:srgbClr val="D5DBE3"/>
            </a:solidFill>
            <a:prstDash val="solid"/>
          </a:ln>
        </p:spPr>
        <p:txBody>
          <a:bodyPr/>
          <a:p/>
        </p:txBody>
      </p:sp>
      <p:sp>
        <p:nvSpPr>
          <p:cNvPr id="31" name="Shape 24"/>
          <p:cNvSpPr/>
          <p:nvPr/>
        </p:nvSpPr>
        <p:spPr>
          <a:xfrm>
            <a:off x="8229600" y="2953512"/>
            <a:ext cx="566928" cy="566928"/>
          </a:xfrm>
          <a:prstGeom prst="ellipse">
            <a:avLst/>
          </a:prstGeom>
          <a:solidFill>
            <a:srgbClr val="2E6F6F"/>
          </a:solidFill>
          <a:ln w="12700">
            <a:solidFill>
              <a:srgbClr val="2E6F6F"/>
            </a:solidFill>
            <a:prstDash val="solid"/>
          </a:ln>
        </p:spPr>
        <p:txBody>
          <a:bodyPr/>
          <a:p/>
        </p:txBody>
      </p:sp>
      <p:pic>
        <p:nvPicPr>
          <p:cNvPr id="32" name="Image 5" descr="C:\Users\Administrator\AppData\Local\Temp\claude\C--Users-Administrator\3bae1df8-6f55-4fee-a59f-2e7e3d58a40d\scratchpad\deck\icons\check_w.png">    </p:cNvPr>
          <p:cNvPicPr>
            <a:picLocks noChangeAspect="1"/>
          </p:cNvPicPr>
          <p:nvPr/>
        </p:nvPicPr>
        <p:blipFill>
          <a:blip r:embed="rId6"/>
          <a:stretch>
            <a:fillRect/>
          </a:stretch>
        </p:blipFill>
        <p:spPr>
          <a:xfrm>
            <a:off x="8342986" y="3066898"/>
            <a:ext cx="340157" cy="340157"/>
          </a:xfrm>
          <a:prstGeom prst="rect">
            <a:avLst/>
          </a:prstGeom>
        </p:spPr>
      </p:pic>
      <p:sp>
        <p:nvSpPr>
          <p:cNvPr id="33" name="Text 25"/>
          <p:cNvSpPr txBox="1"/>
          <p:nvPr/>
        </p:nvSpPr>
        <p:spPr>
          <a:xfrm>
            <a:off x="8961120" y="2798064"/>
            <a:ext cx="256032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Бір кестелі іріктеулер</a:t>
            </a:r>
            <a:endParaRPr lang="en-US" sz="1500" dirty="0"/>
          </a:p>
        </p:txBody>
      </p:sp>
      <p:sp>
        <p:nvSpPr>
          <p:cNvPr id="34" name="Text 26"/>
          <p:cNvSpPr txBox="1"/>
          <p:nvPr/>
        </p:nvSpPr>
        <p:spPr>
          <a:xfrm>
            <a:off x="8961120" y="3346704"/>
            <a:ext cx="2560320" cy="34747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step05 · SELECT, DISTINCT, LIMIT</a:t>
            </a:r>
            <a:endParaRPr lang="en-US" sz="1200" dirty="0"/>
          </a:p>
        </p:txBody>
      </p:sp>
      <p:sp>
        <p:nvSpPr>
          <p:cNvPr id="35" name="Shape 27"/>
          <p:cNvSpPr/>
          <p:nvPr/>
        </p:nvSpPr>
        <p:spPr>
          <a:xfrm>
            <a:off x="548640" y="4023360"/>
            <a:ext cx="3566160" cy="1188720"/>
          </a:xfrm>
          <a:prstGeom prst="roundRect">
            <a:avLst>
              <a:gd name="adj" fmla="val 6154"/>
            </a:avLst>
          </a:prstGeom>
          <a:solidFill>
            <a:srgbClr val="F3F5F8"/>
          </a:solidFill>
          <a:ln w="9525">
            <a:solidFill>
              <a:srgbClr val="D5DBE3"/>
            </a:solidFill>
            <a:prstDash val="solid"/>
          </a:ln>
        </p:spPr>
        <p:txBody>
          <a:bodyPr/>
          <a:p/>
        </p:txBody>
      </p:sp>
      <p:sp>
        <p:nvSpPr>
          <p:cNvPr id="36" name="Shape 28"/>
          <p:cNvSpPr/>
          <p:nvPr/>
        </p:nvSpPr>
        <p:spPr>
          <a:xfrm>
            <a:off x="731520" y="4325112"/>
            <a:ext cx="566928" cy="566928"/>
          </a:xfrm>
          <a:prstGeom prst="ellipse">
            <a:avLst/>
          </a:prstGeom>
          <a:solidFill>
            <a:srgbClr val="2E6F6F"/>
          </a:solidFill>
          <a:ln w="12700">
            <a:solidFill>
              <a:srgbClr val="2E6F6F"/>
            </a:solidFill>
            <a:prstDash val="solid"/>
          </a:ln>
        </p:spPr>
        <p:txBody>
          <a:bodyPr/>
          <a:p/>
        </p:txBody>
      </p:sp>
      <p:pic>
        <p:nvPicPr>
          <p:cNvPr id="37" name="Image 6" descr="C:\Users\Administrator\AppData\Local\Temp\claude\C--Users-Administrator\3bae1df8-6f55-4fee-a59f-2e7e3d58a40d\scratchpad\deck\icons\check_w.png">    </p:cNvPr>
          <p:cNvPicPr>
            <a:picLocks noChangeAspect="1"/>
          </p:cNvPicPr>
          <p:nvPr/>
        </p:nvPicPr>
        <p:blipFill>
          <a:blip r:embed="rId7"/>
          <a:stretch>
            <a:fillRect/>
          </a:stretch>
        </p:blipFill>
        <p:spPr>
          <a:xfrm>
            <a:off x="844906" y="4438498"/>
            <a:ext cx="340157" cy="340157"/>
          </a:xfrm>
          <a:prstGeom prst="rect">
            <a:avLst/>
          </a:prstGeom>
        </p:spPr>
      </p:pic>
      <p:sp>
        <p:nvSpPr>
          <p:cNvPr id="38" name="Text 29"/>
          <p:cNvSpPr txBox="1"/>
          <p:nvPr/>
        </p:nvSpPr>
        <p:spPr>
          <a:xfrm>
            <a:off x="1463040" y="4169664"/>
            <a:ext cx="256032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Бірнеше кестелік іріктеулер</a:t>
            </a:r>
            <a:endParaRPr lang="en-US" sz="1500" dirty="0"/>
          </a:p>
        </p:txBody>
      </p:sp>
      <p:sp>
        <p:nvSpPr>
          <p:cNvPr id="39" name="Text 30"/>
          <p:cNvSpPr txBox="1"/>
          <p:nvPr/>
        </p:nvSpPr>
        <p:spPr>
          <a:xfrm>
            <a:off x="1463040" y="4718304"/>
            <a:ext cx="2560320" cy="34747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step08 · INNER JOIN, LEFT JOIN</a:t>
            </a:r>
            <a:endParaRPr lang="en-US" sz="1200" dirty="0"/>
          </a:p>
        </p:txBody>
      </p:sp>
      <p:sp>
        <p:nvSpPr>
          <p:cNvPr id="40" name="Shape 31"/>
          <p:cNvSpPr/>
          <p:nvPr/>
        </p:nvSpPr>
        <p:spPr>
          <a:xfrm>
            <a:off x="4297680" y="4023360"/>
            <a:ext cx="3566160" cy="1188720"/>
          </a:xfrm>
          <a:prstGeom prst="roundRect">
            <a:avLst>
              <a:gd name="adj" fmla="val 6154"/>
            </a:avLst>
          </a:prstGeom>
          <a:solidFill>
            <a:srgbClr val="F3F5F8"/>
          </a:solidFill>
          <a:ln w="9525">
            <a:solidFill>
              <a:srgbClr val="D5DBE3"/>
            </a:solidFill>
            <a:prstDash val="solid"/>
          </a:ln>
        </p:spPr>
        <p:txBody>
          <a:bodyPr/>
          <a:p/>
        </p:txBody>
      </p:sp>
      <p:sp>
        <p:nvSpPr>
          <p:cNvPr id="41" name="Shape 32"/>
          <p:cNvSpPr/>
          <p:nvPr/>
        </p:nvSpPr>
        <p:spPr>
          <a:xfrm>
            <a:off x="4480560" y="4325112"/>
            <a:ext cx="566928" cy="566928"/>
          </a:xfrm>
          <a:prstGeom prst="ellipse">
            <a:avLst/>
          </a:prstGeom>
          <a:solidFill>
            <a:srgbClr val="2E6F6F"/>
          </a:solidFill>
          <a:ln w="12700">
            <a:solidFill>
              <a:srgbClr val="2E6F6F"/>
            </a:solidFill>
            <a:prstDash val="solid"/>
          </a:ln>
        </p:spPr>
        <p:txBody>
          <a:bodyPr/>
          <a:p/>
        </p:txBody>
      </p:sp>
      <p:pic>
        <p:nvPicPr>
          <p:cNvPr id="42" name="Image 7" descr="C:\Users\Administrator\AppData\Local\Temp\claude\C--Users-Administrator\3bae1df8-6f55-4fee-a59f-2e7e3d58a40d\scratchpad\deck\icons\check_w.png">    </p:cNvPr>
          <p:cNvPicPr>
            <a:picLocks noChangeAspect="1"/>
          </p:cNvPicPr>
          <p:nvPr/>
        </p:nvPicPr>
        <p:blipFill>
          <a:blip r:embed="rId8"/>
          <a:stretch>
            <a:fillRect/>
          </a:stretch>
        </p:blipFill>
        <p:spPr>
          <a:xfrm>
            <a:off x="4593946" y="4438498"/>
            <a:ext cx="340157" cy="340157"/>
          </a:xfrm>
          <a:prstGeom prst="rect">
            <a:avLst/>
          </a:prstGeom>
        </p:spPr>
      </p:pic>
      <p:sp>
        <p:nvSpPr>
          <p:cNvPr id="43" name="Text 33"/>
          <p:cNvSpPr txBox="1"/>
          <p:nvPr/>
        </p:nvSpPr>
        <p:spPr>
          <a:xfrm>
            <a:off x="5212080" y="4169664"/>
            <a:ext cx="256032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Деректерді сүзгілеу</a:t>
            </a:r>
            <a:endParaRPr lang="en-US" sz="1500" dirty="0"/>
          </a:p>
        </p:txBody>
      </p:sp>
      <p:sp>
        <p:nvSpPr>
          <p:cNvPr id="44" name="Text 34"/>
          <p:cNvSpPr txBox="1"/>
          <p:nvPr/>
        </p:nvSpPr>
        <p:spPr>
          <a:xfrm>
            <a:off x="5212080" y="4718304"/>
            <a:ext cx="2560320" cy="34747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step06 · WHERE, LIKE, BETWEEN</a:t>
            </a:r>
            <a:endParaRPr lang="en-US" sz="1200" dirty="0"/>
          </a:p>
        </p:txBody>
      </p:sp>
      <p:sp>
        <p:nvSpPr>
          <p:cNvPr id="45" name="Shape 35"/>
          <p:cNvSpPr/>
          <p:nvPr/>
        </p:nvSpPr>
        <p:spPr>
          <a:xfrm>
            <a:off x="8046720" y="4023360"/>
            <a:ext cx="3566160" cy="1188720"/>
          </a:xfrm>
          <a:prstGeom prst="roundRect">
            <a:avLst>
              <a:gd name="adj" fmla="val 6154"/>
            </a:avLst>
          </a:prstGeom>
          <a:solidFill>
            <a:srgbClr val="F3F5F8"/>
          </a:solidFill>
          <a:ln w="9525">
            <a:solidFill>
              <a:srgbClr val="D5DBE3"/>
            </a:solidFill>
            <a:prstDash val="solid"/>
          </a:ln>
        </p:spPr>
        <p:txBody>
          <a:bodyPr/>
          <a:p/>
        </p:txBody>
      </p:sp>
      <p:sp>
        <p:nvSpPr>
          <p:cNvPr id="46" name="Shape 36"/>
          <p:cNvSpPr/>
          <p:nvPr/>
        </p:nvSpPr>
        <p:spPr>
          <a:xfrm>
            <a:off x="8229600" y="4325112"/>
            <a:ext cx="566928" cy="566928"/>
          </a:xfrm>
          <a:prstGeom prst="ellipse">
            <a:avLst/>
          </a:prstGeom>
          <a:solidFill>
            <a:srgbClr val="2E6F6F"/>
          </a:solidFill>
          <a:ln w="12700">
            <a:solidFill>
              <a:srgbClr val="2E6F6F"/>
            </a:solidFill>
            <a:prstDash val="solid"/>
          </a:ln>
        </p:spPr>
        <p:txBody>
          <a:bodyPr/>
          <a:p/>
        </p:txBody>
      </p:sp>
      <p:pic>
        <p:nvPicPr>
          <p:cNvPr id="47" name="Image 8" descr="C:\Users\Administrator\AppData\Local\Temp\claude\C--Users-Administrator\3bae1df8-6f55-4fee-a59f-2e7e3d58a40d\scratchpad\deck\icons\check_w.png">    </p:cNvPr>
          <p:cNvPicPr>
            <a:picLocks noChangeAspect="1"/>
          </p:cNvPicPr>
          <p:nvPr/>
        </p:nvPicPr>
        <p:blipFill>
          <a:blip r:embed="rId9"/>
          <a:stretch>
            <a:fillRect/>
          </a:stretch>
        </p:blipFill>
        <p:spPr>
          <a:xfrm>
            <a:off x="8342986" y="4438498"/>
            <a:ext cx="340157" cy="340157"/>
          </a:xfrm>
          <a:prstGeom prst="rect">
            <a:avLst/>
          </a:prstGeom>
        </p:spPr>
      </p:pic>
      <p:sp>
        <p:nvSpPr>
          <p:cNvPr id="48" name="Text 37"/>
          <p:cNvSpPr txBox="1"/>
          <p:nvPr/>
        </p:nvSpPr>
        <p:spPr>
          <a:xfrm>
            <a:off x="8961120" y="4169664"/>
            <a:ext cx="2560320" cy="5486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Жолдарды топтау, сұрыптау</a:t>
            </a:r>
            <a:endParaRPr lang="en-US" sz="1500" dirty="0"/>
          </a:p>
        </p:txBody>
      </p:sp>
      <p:sp>
        <p:nvSpPr>
          <p:cNvPr id="49" name="Text 38"/>
          <p:cNvSpPr txBox="1"/>
          <p:nvPr/>
        </p:nvSpPr>
        <p:spPr>
          <a:xfrm>
            <a:off x="8961120" y="4718304"/>
            <a:ext cx="2560320" cy="34747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step07 · GROUP BY, ORDER BY</a:t>
            </a:r>
            <a:endParaRPr lang="en-US" sz="1200" dirty="0"/>
          </a:p>
        </p:txBody>
      </p:sp>
      <p:sp>
        <p:nvSpPr>
          <p:cNvPr id="50" name="Text 39"/>
          <p:cNvSpPr txBox="1"/>
          <p:nvPr/>
        </p:nvSpPr>
        <p:spPr>
          <a:xfrm>
            <a:off x="548640" y="5532120"/>
            <a:ext cx="11064240" cy="5486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Қосымша орындалғаны: кірістірілген сұратымдар, көрініс, триггер, транзакция, индекс (step09–step11) және EduDocs веб-қосымшасы (app.py)</a:t>
            </a:r>
            <a:pPr indent="0" marL="0">
              <a:buNone/>
            </a:pP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Пәндік аймақ: 8 құжат түрі, 4 санат</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1280160"/>
            <a:ext cx="5669280" cy="731520"/>
          </a:xfrm>
          <a:prstGeom prst="roundRect">
            <a:avLst>
              <a:gd name="adj" fmla="val 10000"/>
            </a:avLst>
          </a:prstGeom>
          <a:solidFill>
            <a:srgbClr val="F3F5F8"/>
          </a:solidFill>
          <a:ln w="9525">
            <a:solidFill>
              <a:srgbClr val="D5DBE3"/>
            </a:solidFill>
            <a:prstDash val="solid"/>
          </a:ln>
        </p:spPr>
      </p:sp>
      <p:sp>
        <p:nvSpPr>
          <p:cNvPr id="6" name="Shape 4"/>
          <p:cNvSpPr/>
          <p:nvPr/>
        </p:nvSpPr>
        <p:spPr>
          <a:xfrm>
            <a:off x="777240" y="1527048"/>
            <a:ext cx="237744" cy="237744"/>
          </a:xfrm>
          <a:prstGeom prst="ellipse">
            <a:avLst/>
          </a:prstGeom>
          <a:solidFill>
            <a:srgbClr val="1F3A5F"/>
          </a:solidFill>
          <a:ln w="12700">
            <a:solidFill>
              <a:srgbClr val="1F3A5F"/>
            </a:solidFill>
            <a:prstDash val="solid"/>
          </a:ln>
        </p:spPr>
      </p:sp>
      <p:sp>
        <p:nvSpPr>
          <p:cNvPr id="7" name="Text 5"/>
          <p:cNvSpPr txBox="1"/>
          <p:nvPr/>
        </p:nvSpPr>
        <p:spPr>
          <a:xfrm>
            <a:off x="1188720" y="1353312"/>
            <a:ext cx="2103120" cy="585216"/>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Оқу-әдістемелік</a:t>
            </a:r>
            <a:endParaRPr lang="en-US" sz="1600" dirty="0"/>
          </a:p>
        </p:txBody>
      </p:sp>
      <p:sp>
        <p:nvSpPr>
          <p:cNvPr id="8" name="Text 6"/>
          <p:cNvSpPr txBox="1"/>
          <p:nvPr/>
        </p:nvSpPr>
        <p:spPr>
          <a:xfrm>
            <a:off x="3291840" y="1353312"/>
            <a:ext cx="2103120" cy="58521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СИЛ, ОЖЖ, ПОӘК</a:t>
            </a:r>
            <a:endParaRPr lang="en-US" sz="1300" dirty="0"/>
          </a:p>
        </p:txBody>
      </p:sp>
      <p:sp>
        <p:nvSpPr>
          <p:cNvPr id="9" name="Text 7"/>
          <p:cNvSpPr txBox="1"/>
          <p:nvPr/>
        </p:nvSpPr>
        <p:spPr>
          <a:xfrm>
            <a:off x="5303520" y="1353312"/>
            <a:ext cx="822960" cy="585216"/>
          </a:xfrm>
          <a:prstGeom prst="rect">
            <a:avLst/>
          </a:prstGeom>
          <a:noFill/>
          <a:ln/>
        </p:spPr>
        <p:txBody>
          <a:bodyPr wrap="square" lIns="0" tIns="0" rIns="0" bIns="0" rtlCol="0" anchor="ctr"/>
          <a:lstStyle/>
          <a:p>
            <a:pPr algn="r" indent="0" marL="0">
              <a:buNone/>
            </a:pPr>
            <a:r>
              <a:rPr lang="en-US" sz="1400" b="1" dirty="0">
                <a:solidFill>
                  <a:srgbClr val="1F3A5F"/>
                </a:solidFill>
                <a:latin typeface="Calibri" pitchFamily="34" charset="0"/>
                <a:ea typeface="Calibri" pitchFamily="34" charset="-122"/>
                <a:cs typeface="Calibri" pitchFamily="34" charset="-120"/>
              </a:rPr>
              <a:t>3 түр</a:t>
            </a:r>
            <a:endParaRPr lang="en-US" sz="1400" dirty="0"/>
          </a:p>
        </p:txBody>
      </p:sp>
      <p:sp>
        <p:nvSpPr>
          <p:cNvPr id="10" name="Shape 8"/>
          <p:cNvSpPr/>
          <p:nvPr/>
        </p:nvSpPr>
        <p:spPr>
          <a:xfrm>
            <a:off x="548640" y="2148840"/>
            <a:ext cx="5669280" cy="731520"/>
          </a:xfrm>
          <a:prstGeom prst="roundRect">
            <a:avLst>
              <a:gd name="adj" fmla="val 10000"/>
            </a:avLst>
          </a:prstGeom>
          <a:solidFill>
            <a:srgbClr val="F3F5F8"/>
          </a:solidFill>
          <a:ln w="9525">
            <a:solidFill>
              <a:srgbClr val="D5DBE3"/>
            </a:solidFill>
            <a:prstDash val="solid"/>
          </a:ln>
        </p:spPr>
      </p:sp>
      <p:sp>
        <p:nvSpPr>
          <p:cNvPr id="11" name="Shape 9"/>
          <p:cNvSpPr/>
          <p:nvPr/>
        </p:nvSpPr>
        <p:spPr>
          <a:xfrm>
            <a:off x="777240" y="2395728"/>
            <a:ext cx="237744" cy="237744"/>
          </a:xfrm>
          <a:prstGeom prst="ellipse">
            <a:avLst/>
          </a:prstGeom>
          <a:solidFill>
            <a:srgbClr val="2C5282"/>
          </a:solidFill>
          <a:ln w="12700">
            <a:solidFill>
              <a:srgbClr val="2C5282"/>
            </a:solidFill>
            <a:prstDash val="solid"/>
          </a:ln>
        </p:spPr>
      </p:sp>
      <p:sp>
        <p:nvSpPr>
          <p:cNvPr id="12" name="Text 10"/>
          <p:cNvSpPr txBox="1"/>
          <p:nvPr/>
        </p:nvSpPr>
        <p:spPr>
          <a:xfrm>
            <a:off x="1188720" y="2221992"/>
            <a:ext cx="2103120" cy="585216"/>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Аттестаттау</a:t>
            </a:r>
            <a:endParaRPr lang="en-US" sz="1600" dirty="0"/>
          </a:p>
        </p:txBody>
      </p:sp>
      <p:sp>
        <p:nvSpPr>
          <p:cNvPr id="13" name="Text 11"/>
          <p:cNvSpPr txBox="1"/>
          <p:nvPr/>
        </p:nvSpPr>
        <p:spPr>
          <a:xfrm>
            <a:off x="3291840" y="2221992"/>
            <a:ext cx="2103120" cy="58521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ВЕД, КЖ</a:t>
            </a:r>
            <a:endParaRPr lang="en-US" sz="1300" dirty="0"/>
          </a:p>
        </p:txBody>
      </p:sp>
      <p:sp>
        <p:nvSpPr>
          <p:cNvPr id="14" name="Text 12"/>
          <p:cNvSpPr txBox="1"/>
          <p:nvPr/>
        </p:nvSpPr>
        <p:spPr>
          <a:xfrm>
            <a:off x="5303520" y="2221992"/>
            <a:ext cx="822960" cy="585216"/>
          </a:xfrm>
          <a:prstGeom prst="rect">
            <a:avLst/>
          </a:prstGeom>
          <a:noFill/>
          <a:ln/>
        </p:spPr>
        <p:txBody>
          <a:bodyPr wrap="square" lIns="0" tIns="0" rIns="0" bIns="0" rtlCol="0" anchor="ctr"/>
          <a:lstStyle/>
          <a:p>
            <a:pPr algn="r" indent="0" marL="0">
              <a:buNone/>
            </a:pPr>
            <a:r>
              <a:rPr lang="en-US" sz="1400" b="1" dirty="0">
                <a:solidFill>
                  <a:srgbClr val="2C5282"/>
                </a:solidFill>
                <a:latin typeface="Calibri" pitchFamily="34" charset="0"/>
                <a:ea typeface="Calibri" pitchFamily="34" charset="-122"/>
                <a:cs typeface="Calibri" pitchFamily="34" charset="-120"/>
              </a:rPr>
              <a:t>2 түр</a:t>
            </a:r>
            <a:endParaRPr lang="en-US" sz="1400" dirty="0"/>
          </a:p>
        </p:txBody>
      </p:sp>
      <p:sp>
        <p:nvSpPr>
          <p:cNvPr id="15" name="Shape 13"/>
          <p:cNvSpPr/>
          <p:nvPr/>
        </p:nvSpPr>
        <p:spPr>
          <a:xfrm>
            <a:off x="548640" y="3017520"/>
            <a:ext cx="5669280" cy="731520"/>
          </a:xfrm>
          <a:prstGeom prst="roundRect">
            <a:avLst>
              <a:gd name="adj" fmla="val 10000"/>
            </a:avLst>
          </a:prstGeom>
          <a:solidFill>
            <a:srgbClr val="F3F5F8"/>
          </a:solidFill>
          <a:ln w="9525">
            <a:solidFill>
              <a:srgbClr val="D5DBE3"/>
            </a:solidFill>
            <a:prstDash val="solid"/>
          </a:ln>
        </p:spPr>
      </p:sp>
      <p:sp>
        <p:nvSpPr>
          <p:cNvPr id="16" name="Shape 14"/>
          <p:cNvSpPr/>
          <p:nvPr/>
        </p:nvSpPr>
        <p:spPr>
          <a:xfrm>
            <a:off x="777240" y="3264408"/>
            <a:ext cx="237744" cy="237744"/>
          </a:xfrm>
          <a:prstGeom prst="ellipse">
            <a:avLst/>
          </a:prstGeom>
          <a:solidFill>
            <a:srgbClr val="2E6F6F"/>
          </a:solidFill>
          <a:ln w="12700">
            <a:solidFill>
              <a:srgbClr val="2E6F6F"/>
            </a:solidFill>
            <a:prstDash val="solid"/>
          </a:ln>
        </p:spPr>
      </p:sp>
      <p:sp>
        <p:nvSpPr>
          <p:cNvPr id="17" name="Text 15"/>
          <p:cNvSpPr txBox="1"/>
          <p:nvPr/>
        </p:nvSpPr>
        <p:spPr>
          <a:xfrm>
            <a:off x="1188720" y="3090672"/>
            <a:ext cx="2103120" cy="585216"/>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Контингент</a:t>
            </a:r>
            <a:endParaRPr lang="en-US" sz="1600" dirty="0"/>
          </a:p>
        </p:txBody>
      </p:sp>
      <p:sp>
        <p:nvSpPr>
          <p:cNvPr id="18" name="Text 16"/>
          <p:cNvSpPr txBox="1"/>
          <p:nvPr/>
        </p:nvSpPr>
        <p:spPr>
          <a:xfrm>
            <a:off x="3291840" y="3090672"/>
            <a:ext cx="2103120" cy="58521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БК, АНҚ</a:t>
            </a:r>
            <a:endParaRPr lang="en-US" sz="1300" dirty="0"/>
          </a:p>
        </p:txBody>
      </p:sp>
      <p:sp>
        <p:nvSpPr>
          <p:cNvPr id="19" name="Text 17"/>
          <p:cNvSpPr txBox="1"/>
          <p:nvPr/>
        </p:nvSpPr>
        <p:spPr>
          <a:xfrm>
            <a:off x="5303520" y="3090672"/>
            <a:ext cx="822960" cy="585216"/>
          </a:xfrm>
          <a:prstGeom prst="rect">
            <a:avLst/>
          </a:prstGeom>
          <a:noFill/>
          <a:ln/>
        </p:spPr>
        <p:txBody>
          <a:bodyPr wrap="square" lIns="0" tIns="0" rIns="0" bIns="0" rtlCol="0" anchor="ctr"/>
          <a:lstStyle/>
          <a:p>
            <a:pPr algn="r" indent="0" marL="0">
              <a:buNone/>
            </a:pPr>
            <a:r>
              <a:rPr lang="en-US" sz="1400" b="1" dirty="0">
                <a:solidFill>
                  <a:srgbClr val="2E6F6F"/>
                </a:solidFill>
                <a:latin typeface="Calibri" pitchFamily="34" charset="0"/>
                <a:ea typeface="Calibri" pitchFamily="34" charset="-122"/>
                <a:cs typeface="Calibri" pitchFamily="34" charset="-120"/>
              </a:rPr>
              <a:t>2 түр</a:t>
            </a:r>
            <a:endParaRPr lang="en-US" sz="1400" dirty="0"/>
          </a:p>
        </p:txBody>
      </p:sp>
      <p:sp>
        <p:nvSpPr>
          <p:cNvPr id="20" name="Shape 18"/>
          <p:cNvSpPr/>
          <p:nvPr/>
        </p:nvSpPr>
        <p:spPr>
          <a:xfrm>
            <a:off x="548640" y="3886200"/>
            <a:ext cx="5669280" cy="731520"/>
          </a:xfrm>
          <a:prstGeom prst="roundRect">
            <a:avLst>
              <a:gd name="adj" fmla="val 10000"/>
            </a:avLst>
          </a:prstGeom>
          <a:solidFill>
            <a:srgbClr val="F3F5F8"/>
          </a:solidFill>
          <a:ln w="9525">
            <a:solidFill>
              <a:srgbClr val="D5DBE3"/>
            </a:solidFill>
            <a:prstDash val="solid"/>
          </a:ln>
        </p:spPr>
      </p:sp>
      <p:sp>
        <p:nvSpPr>
          <p:cNvPr id="21" name="Shape 19"/>
          <p:cNvSpPr/>
          <p:nvPr/>
        </p:nvSpPr>
        <p:spPr>
          <a:xfrm>
            <a:off x="777240" y="4133088"/>
            <a:ext cx="237744" cy="237744"/>
          </a:xfrm>
          <a:prstGeom prst="ellipse">
            <a:avLst/>
          </a:prstGeom>
          <a:solidFill>
            <a:srgbClr val="B45309"/>
          </a:solidFill>
          <a:ln w="12700">
            <a:solidFill>
              <a:srgbClr val="B45309"/>
            </a:solidFill>
            <a:prstDash val="solid"/>
          </a:ln>
        </p:spPr>
      </p:sp>
      <p:sp>
        <p:nvSpPr>
          <p:cNvPr id="22" name="Text 20"/>
          <p:cNvSpPr txBox="1"/>
          <p:nvPr/>
        </p:nvSpPr>
        <p:spPr>
          <a:xfrm>
            <a:off x="1188720" y="3959352"/>
            <a:ext cx="2103120" cy="585216"/>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Нормативтік</a:t>
            </a:r>
            <a:endParaRPr lang="en-US" sz="1600" dirty="0"/>
          </a:p>
        </p:txBody>
      </p:sp>
      <p:sp>
        <p:nvSpPr>
          <p:cNvPr id="23" name="Text 21"/>
          <p:cNvSpPr txBox="1"/>
          <p:nvPr/>
        </p:nvSpPr>
        <p:spPr>
          <a:xfrm>
            <a:off x="3291840" y="3959352"/>
            <a:ext cx="2103120" cy="58521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ХАТ</a:t>
            </a:r>
            <a:endParaRPr lang="en-US" sz="1300" dirty="0"/>
          </a:p>
        </p:txBody>
      </p:sp>
      <p:sp>
        <p:nvSpPr>
          <p:cNvPr id="24" name="Text 22"/>
          <p:cNvSpPr txBox="1"/>
          <p:nvPr/>
        </p:nvSpPr>
        <p:spPr>
          <a:xfrm>
            <a:off x="5303520" y="3959352"/>
            <a:ext cx="822960" cy="585216"/>
          </a:xfrm>
          <a:prstGeom prst="rect">
            <a:avLst/>
          </a:prstGeom>
          <a:noFill/>
          <a:ln/>
        </p:spPr>
        <p:txBody>
          <a:bodyPr wrap="square" lIns="0" tIns="0" rIns="0" bIns="0" rtlCol="0" anchor="ctr"/>
          <a:lstStyle/>
          <a:p>
            <a:pPr algn="r" indent="0" marL="0">
              <a:buNone/>
            </a:pPr>
            <a:r>
              <a:rPr lang="en-US" sz="1400" b="1" dirty="0">
                <a:solidFill>
                  <a:srgbClr val="B45309"/>
                </a:solidFill>
                <a:latin typeface="Calibri" pitchFamily="34" charset="0"/>
                <a:ea typeface="Calibri" pitchFamily="34" charset="-122"/>
                <a:cs typeface="Calibri" pitchFamily="34" charset="-120"/>
              </a:rPr>
              <a:t>1 түр</a:t>
            </a:r>
            <a:endParaRPr lang="en-US" sz="1400" dirty="0"/>
          </a:p>
        </p:txBody>
      </p:sp>
      <p:sp>
        <p:nvSpPr>
          <p:cNvPr id="30" name="Text 28"/>
          <p:cNvSpPr txBox="1"/>
          <p:nvPr/>
        </p:nvSpPr>
        <p:spPr>
          <a:xfrm>
            <a:off x="548640" y="4800600"/>
            <a:ext cx="5669280" cy="45720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Тіркеу нөмірі: «түр коды – жыл / реттік нөмір», мысалы СИЛ-2026/001</a:t>
            </a:r>
            <a:endParaRPr lang="en-US" sz="1300" dirty="0"/>
          </a:p>
        </p:txBody>
      </p:sp>
      <p:graphicFrame>
        <p:nvGraphicFramePr>
          <p:cNvPr id="31" name="Chart 0" descr=""/>
          <p:cNvGraphicFramePr/>
          <p:nvPr/>
        </p:nvGraphicFramePr>
        <p:xfrm>
          <a:off x="6583680" y="1234440"/>
          <a:ext cx="5120640" cy="44805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Құжаттың өмірлік циклі</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5</a:t>
            </a:r>
            <a:endParaRPr lang="en-US" sz="1000" dirty="0"/>
          </a:p>
        </p:txBody>
      </p:sp>
      <p:pic>
        <p:nvPicPr>
          <p:cNvPr id="5" name="Image 0" descr="C:/Users/Administrator/k/Claude_EduDocs/figures/diagrams/fig04_lifecycle.png">    </p:cNvPr>
          <p:cNvPicPr>
            <a:picLocks noChangeAspect="1"/>
          </p:cNvPicPr>
          <p:nvPr/>
        </p:nvPicPr>
        <p:blipFill>
          <a:blip r:embed="rId7"/>
          <a:srcRect/>
          <a:stretch>
            <a:fillRect/>
          </a:stretch>
        </p:blipFill>
        <p:spPr>
          <a:xfrm>
            <a:off x="696558" y="1433456"/>
            <a:ext cx="10768405" cy="3671047"/>
          </a:xfrm>
          <a:prstGeom prst="rect">
            <a:avLst/>
          </a:prstGeom>
        </p:spPr>
      </p:pic>
      <p:sp>
        <p:nvSpPr>
          <p:cNvPr id="6" name="Shape 3"/>
          <p:cNvSpPr/>
          <p:nvPr/>
        </p:nvSpPr>
        <p:spPr>
          <a:xfrm>
            <a:off x="548640" y="5486400"/>
            <a:ext cx="3566160" cy="777240"/>
          </a:xfrm>
          <a:prstGeom prst="roundRect">
            <a:avLst>
              <a:gd name="adj" fmla="val 9412"/>
            </a:avLst>
          </a:prstGeom>
          <a:solidFill>
            <a:srgbClr val="F3F5F8"/>
          </a:solidFill>
          <a:ln w="9525">
            <a:solidFill>
              <a:srgbClr val="D5DBE3"/>
            </a:solidFill>
            <a:prstDash val="solid"/>
          </a:ln>
        </p:spPr>
      </p:sp>
      <p:sp>
        <p:nvSpPr>
          <p:cNvPr id="7" name="Shape 4"/>
          <p:cNvSpPr/>
          <p:nvPr/>
        </p:nvSpPr>
        <p:spPr>
          <a:xfrm>
            <a:off x="685800" y="5596128"/>
            <a:ext cx="548640" cy="548640"/>
          </a:xfrm>
          <a:prstGeom prst="ellipse">
            <a:avLst/>
          </a:prstGeom>
          <a:solidFill>
            <a:srgbClr val="1F3A5F"/>
          </a:solidFill>
          <a:ln w="12700">
            <a:solidFill>
              <a:srgbClr val="1F3A5F"/>
            </a:solidFill>
            <a:prstDash val="solid"/>
          </a:ln>
        </p:spPr>
      </p:sp>
      <p:pic>
        <p:nvPicPr>
          <p:cNvPr id="8" name="Image 1" descr="C:\Users\Administrator\AppData\Local\Temp\claude\C--Users-Administrator\3bae1df8-6f55-4fee-a59f-2e7e3d58a40d\scratchpad\deck\icons\shield_w.png">    </p:cNvPr>
          <p:cNvPicPr>
            <a:picLocks noChangeAspect="1"/>
          </p:cNvPicPr>
          <p:nvPr/>
        </p:nvPicPr>
        <p:blipFill>
          <a:blip r:embed="rId2"/>
          <a:stretch>
            <a:fillRect/>
          </a:stretch>
        </p:blipFill>
        <p:spPr>
          <a:xfrm>
            <a:off x="795528" y="5705856"/>
            <a:ext cx="329184" cy="329184"/>
          </a:xfrm>
          <a:prstGeom prst="rect">
            <a:avLst/>
          </a:prstGeom>
        </p:spPr>
      </p:pic>
      <p:sp>
        <p:nvSpPr>
          <p:cNvPr id="9" name="Text 5"/>
          <p:cNvSpPr txBox="1"/>
          <p:nvPr/>
        </p:nvSpPr>
        <p:spPr>
          <a:xfrm>
            <a:off x="1371600" y="5532120"/>
            <a:ext cx="2697480" cy="68580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CHECK шектеуі</a:t>
            </a:r>
            <a:endParaRPr lang="en-US" sz="1400" dirty="0"/>
          </a:p>
          <a:p>
            <a:pPr indent="0" marL="0">
              <a:buNone/>
            </a:pPr>
            <a:r>
              <a:rPr lang="en-US" sz="1300" dirty="0">
                <a:solidFill>
                  <a:srgbClr val="6B7280"/>
                </a:solidFill>
                <a:latin typeface="Calibri" pitchFamily="34" charset="0"/>
                <a:ea typeface="Calibri" pitchFamily="34" charset="-122"/>
                <a:cs typeface="Calibri" pitchFamily="34" charset="-120"/>
              </a:rPr>
              <a:t>тек 4 мәртебеге рұқсат береді</a:t>
            </a:r>
            <a:endParaRPr lang="en-US" sz="1400" dirty="0"/>
          </a:p>
        </p:txBody>
      </p:sp>
      <p:sp>
        <p:nvSpPr>
          <p:cNvPr id="10" name="Shape 6"/>
          <p:cNvSpPr/>
          <p:nvPr/>
        </p:nvSpPr>
        <p:spPr>
          <a:xfrm>
            <a:off x="4297680" y="5486400"/>
            <a:ext cx="3566160" cy="777240"/>
          </a:xfrm>
          <a:prstGeom prst="roundRect">
            <a:avLst>
              <a:gd name="adj" fmla="val 9412"/>
            </a:avLst>
          </a:prstGeom>
          <a:solidFill>
            <a:srgbClr val="F3F5F8"/>
          </a:solidFill>
          <a:ln w="9525">
            <a:solidFill>
              <a:srgbClr val="D5DBE3"/>
            </a:solidFill>
            <a:prstDash val="solid"/>
          </a:ln>
        </p:spPr>
      </p:sp>
      <p:sp>
        <p:nvSpPr>
          <p:cNvPr id="11" name="Shape 7"/>
          <p:cNvSpPr/>
          <p:nvPr/>
        </p:nvSpPr>
        <p:spPr>
          <a:xfrm>
            <a:off x="4434840" y="5596128"/>
            <a:ext cx="548640" cy="548640"/>
          </a:xfrm>
          <a:prstGeom prst="ellipse">
            <a:avLst/>
          </a:prstGeom>
          <a:solidFill>
            <a:srgbClr val="1F3A5F"/>
          </a:solidFill>
          <a:ln w="12700">
            <a:solidFill>
              <a:srgbClr val="1F3A5F"/>
            </a:solidFill>
            <a:prstDash val="solid"/>
          </a:ln>
        </p:spPr>
      </p:sp>
      <p:pic>
        <p:nvPicPr>
          <p:cNvPr id="12" name="Image 2" descr="C:\Users\Administrator\AppData\Local\Temp\claude\C--Users-Administrator\3bae1df8-6f55-4fee-a59f-2e7e3d58a40d\scratchpad\deck\icons\history_w.png">    </p:cNvPr>
          <p:cNvPicPr>
            <a:picLocks noChangeAspect="1"/>
          </p:cNvPicPr>
          <p:nvPr/>
        </p:nvPicPr>
        <p:blipFill>
          <a:blip r:embed="rId3"/>
          <a:stretch>
            <a:fillRect/>
          </a:stretch>
        </p:blipFill>
        <p:spPr>
          <a:xfrm>
            <a:off x="4544568" y="5705856"/>
            <a:ext cx="329184" cy="329184"/>
          </a:xfrm>
          <a:prstGeom prst="rect">
            <a:avLst/>
          </a:prstGeom>
        </p:spPr>
      </p:pic>
      <p:sp>
        <p:nvSpPr>
          <p:cNvPr id="13" name="Text 8"/>
          <p:cNvSpPr txBox="1"/>
          <p:nvPr/>
        </p:nvSpPr>
        <p:spPr>
          <a:xfrm>
            <a:off x="5120640" y="5532120"/>
            <a:ext cx="2697480" cy="685800"/>
          </a:xfrm>
          <a:prstGeom prst="rect">
            <a:avLst/>
          </a:prstGeom>
          <a:noFill/>
          <a:ln/>
        </p:spPr>
        <p:txBody>
          <a:bodyPr wrap="square" lIns="0" tIns="0" rIns="0" bIns="0" rtlCol="0" anchor="ctr"/>
          <a:lstStyle/>
          <a:p>
            <a:pPr indent="0" marL="0">
              <a:buNone/>
            </a:pPr>
            <a:r>
              <a:rPr lang="en-US" sz="1200" b="1" dirty="0">
                <a:solidFill>
                  <a:srgbClr val="1F2937"/>
                </a:solidFill>
                <a:latin typeface="Consolas" pitchFamily="34" charset="0"/>
                <a:ea typeface="Consolas" pitchFamily="34" charset="-122"/>
                <a:cs typeface="Consolas" pitchFamily="34" charset="-120"/>
              </a:rPr>
              <a:t>DEFAULT 'жоба'</a:t>
            </a:r>
            <a:endParaRPr lang="en-US" sz="1200" dirty="0"/>
          </a:p>
          <a:p>
            <a:pPr indent="0" marL="0">
              <a:buNone/>
            </a:pPr>
            <a:r>
              <a:rPr lang="en-US" sz="1300" dirty="0">
                <a:solidFill>
                  <a:srgbClr val="6B7280"/>
                </a:solidFill>
                <a:latin typeface="Calibri" pitchFamily="34" charset="0"/>
                <a:ea typeface="Calibri" pitchFamily="34" charset="-122"/>
                <a:cs typeface="Calibri" pitchFamily="34" charset="-120"/>
              </a:rPr>
              <a:t>жаңа құжат жоба күйінде тіркеледі</a:t>
            </a:r>
            <a:endParaRPr lang="en-US" sz="1200" dirty="0"/>
          </a:p>
        </p:txBody>
      </p:sp>
      <p:sp>
        <p:nvSpPr>
          <p:cNvPr id="14" name="Shape 9"/>
          <p:cNvSpPr/>
          <p:nvPr/>
        </p:nvSpPr>
        <p:spPr>
          <a:xfrm>
            <a:off x="8046720" y="5486400"/>
            <a:ext cx="3566160" cy="777240"/>
          </a:xfrm>
          <a:prstGeom prst="roundRect">
            <a:avLst>
              <a:gd name="adj" fmla="val 9412"/>
            </a:avLst>
          </a:prstGeom>
          <a:solidFill>
            <a:srgbClr val="F3F5F8"/>
          </a:solidFill>
          <a:ln w="9525">
            <a:solidFill>
              <a:srgbClr val="D5DBE3"/>
            </a:solidFill>
            <a:prstDash val="solid"/>
          </a:ln>
        </p:spPr>
      </p:sp>
      <p:sp>
        <p:nvSpPr>
          <p:cNvPr id="15" name="Shape 10"/>
          <p:cNvSpPr/>
          <p:nvPr/>
        </p:nvSpPr>
        <p:spPr>
          <a:xfrm>
            <a:off x="8183880" y="5596128"/>
            <a:ext cx="548640" cy="548640"/>
          </a:xfrm>
          <a:prstGeom prst="ellipse">
            <a:avLst/>
          </a:prstGeom>
          <a:solidFill>
            <a:srgbClr val="1F3A5F"/>
          </a:solidFill>
          <a:ln w="12700">
            <a:solidFill>
              <a:srgbClr val="1F3A5F"/>
            </a:solidFill>
            <a:prstDash val="solid"/>
          </a:ln>
        </p:spPr>
      </p:sp>
      <p:pic>
        <p:nvPicPr>
          <p:cNvPr id="16" name="Image 3" descr="C:\Users\Administrator\AppData\Local\Temp\claude\C--Users-Administrator\3bae1df8-6f55-4fee-a59f-2e7e3d58a40d\scratchpad\deck\icons\lock_w.png">    </p:cNvPr>
          <p:cNvPicPr>
            <a:picLocks noChangeAspect="1"/>
          </p:cNvPicPr>
          <p:nvPr/>
        </p:nvPicPr>
        <p:blipFill>
          <a:blip r:embed="rId4"/>
          <a:stretch>
            <a:fillRect/>
          </a:stretch>
        </p:blipFill>
        <p:spPr>
          <a:xfrm>
            <a:off x="8293608" y="5705856"/>
            <a:ext cx="329184" cy="329184"/>
          </a:xfrm>
          <a:prstGeom prst="rect">
            <a:avLst/>
          </a:prstGeom>
        </p:spPr>
      </p:pic>
      <p:sp>
        <p:nvSpPr>
          <p:cNvPr id="17" name="Text 11"/>
          <p:cNvSpPr txBox="1"/>
          <p:nvPr/>
        </p:nvSpPr>
        <p:spPr>
          <a:xfrm>
            <a:off x="8869680" y="5532120"/>
            <a:ext cx="2697480" cy="685800"/>
          </a:xfrm>
          <a:prstGeom prst="rect">
            <a:avLst/>
          </a:prstGeom>
          <a:noFill/>
          <a:ln/>
        </p:spPr>
        <p:txBody>
          <a:bodyPr wrap="square" lIns="0" tIns="0" rIns="0" bIns="0" rtlCol="0" anchor="ctr"/>
          <a:lstStyle/>
          <a:p>
            <a:pPr indent="0" marL="0">
              <a:buNone/>
            </a:pPr>
            <a:r>
              <a:rPr lang="en-US" sz="1200" b="1" dirty="0">
                <a:solidFill>
                  <a:srgbClr val="1F2937"/>
                </a:solidFill>
                <a:latin typeface="Consolas" pitchFamily="34" charset="0"/>
                <a:ea typeface="Consolas" pitchFamily="34" charset="-122"/>
                <a:cs typeface="Consolas" pitchFamily="34" charset="-120"/>
              </a:rPr>
              <a:t>trg_protect_approved</a:t>
            </a:r>
            <a:endParaRPr lang="en-US" sz="1200" dirty="0"/>
          </a:p>
          <a:p>
            <a:pPr indent="0" marL="0">
              <a:buNone/>
            </a:pPr>
            <a:r>
              <a:rPr lang="en-US" sz="1300" dirty="0">
                <a:solidFill>
                  <a:srgbClr val="6B7280"/>
                </a:solidFill>
                <a:latin typeface="Calibri" pitchFamily="34" charset="0"/>
                <a:ea typeface="Calibri" pitchFamily="34" charset="-122"/>
                <a:cs typeface="Calibri" pitchFamily="34" charset="-120"/>
              </a:rPr>
              <a:t>бекітілген құжатты жоюға тыйым салады</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Концептуалдық модель (ER)</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6</a:t>
            </a:r>
            <a:endParaRPr lang="en-US" sz="1000" dirty="0"/>
          </a:p>
        </p:txBody>
      </p:sp>
      <p:pic>
        <p:nvPicPr>
          <p:cNvPr id="5" name="Image 0" descr="C:/Users/Administrator/k/Claude_EduDocs/figures/diagrams/fig05_conceptual_er.png">    </p:cNvPr>
          <p:cNvPicPr>
            <a:picLocks noChangeAspect="1"/>
          </p:cNvPicPr>
          <p:nvPr/>
        </p:nvPicPr>
        <p:blipFill>
          <a:blip r:embed="rId5"/>
          <a:srcRect/>
          <a:stretch>
            <a:fillRect/>
          </a:stretch>
        </p:blipFill>
        <p:spPr>
          <a:xfrm>
            <a:off x="548640" y="1748444"/>
            <a:ext cx="8412480" cy="3823854"/>
          </a:xfrm>
          <a:prstGeom prst="rect">
            <a:avLst/>
          </a:prstGeom>
        </p:spPr>
      </p:pic>
      <p:sp>
        <p:nvSpPr>
          <p:cNvPr id="6" name="Shape 3"/>
          <p:cNvSpPr/>
          <p:nvPr/>
        </p:nvSpPr>
        <p:spPr>
          <a:xfrm>
            <a:off x="9235440" y="1325880"/>
            <a:ext cx="2423160" cy="1371600"/>
          </a:xfrm>
          <a:prstGeom prst="roundRect">
            <a:avLst>
              <a:gd name="adj" fmla="val 5333"/>
            </a:avLst>
          </a:prstGeom>
          <a:solidFill>
            <a:srgbClr val="F3F5F8"/>
          </a:solidFill>
          <a:ln w="9525">
            <a:solidFill>
              <a:srgbClr val="D5DBE3"/>
            </a:solidFill>
            <a:prstDash val="solid"/>
          </a:ln>
        </p:spPr>
      </p:sp>
      <p:sp>
        <p:nvSpPr>
          <p:cNvPr id="7" name="Text 4"/>
          <p:cNvSpPr txBox="1"/>
          <p:nvPr/>
        </p:nvSpPr>
        <p:spPr>
          <a:xfrm>
            <a:off x="9235440" y="1417320"/>
            <a:ext cx="2423160" cy="685800"/>
          </a:xfrm>
          <a:prstGeom prst="rect">
            <a:avLst/>
          </a:prstGeom>
          <a:noFill/>
          <a:ln/>
        </p:spPr>
        <p:txBody>
          <a:bodyPr wrap="square" lIns="0" tIns="0" rIns="0" bIns="0" rtlCol="0" anchor="ctr"/>
          <a:lstStyle/>
          <a:p>
            <a:pPr algn="ctr" indent="0" marL="0">
              <a:buNone/>
            </a:pPr>
            <a:r>
              <a:rPr lang="en-US" sz="4000" b="1" dirty="0">
                <a:solidFill>
                  <a:srgbClr val="1F3A5F"/>
                </a:solidFill>
                <a:latin typeface="Cambria" pitchFamily="34" charset="0"/>
                <a:ea typeface="Cambria" pitchFamily="34" charset="-122"/>
                <a:cs typeface="Cambria" pitchFamily="34" charset="-120"/>
              </a:rPr>
              <a:t>4</a:t>
            </a:r>
            <a:endParaRPr lang="en-US" sz="4000" dirty="0"/>
          </a:p>
        </p:txBody>
      </p:sp>
      <p:sp>
        <p:nvSpPr>
          <p:cNvPr id="8" name="Text 5"/>
          <p:cNvSpPr txBox="1"/>
          <p:nvPr/>
        </p:nvSpPr>
        <p:spPr>
          <a:xfrm>
            <a:off x="9326880" y="2103120"/>
            <a:ext cx="2240280" cy="50292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мән (entity)</a:t>
            </a:r>
            <a:endParaRPr lang="en-US" sz="1300" dirty="0"/>
          </a:p>
        </p:txBody>
      </p:sp>
      <p:sp>
        <p:nvSpPr>
          <p:cNvPr id="9" name="Shape 6"/>
          <p:cNvSpPr/>
          <p:nvPr/>
        </p:nvSpPr>
        <p:spPr>
          <a:xfrm>
            <a:off x="9235440" y="2926080"/>
            <a:ext cx="2423160" cy="1371600"/>
          </a:xfrm>
          <a:prstGeom prst="roundRect">
            <a:avLst>
              <a:gd name="adj" fmla="val 5333"/>
            </a:avLst>
          </a:prstGeom>
          <a:solidFill>
            <a:srgbClr val="F3F5F8"/>
          </a:solidFill>
          <a:ln w="9525">
            <a:solidFill>
              <a:srgbClr val="D5DBE3"/>
            </a:solidFill>
            <a:prstDash val="solid"/>
          </a:ln>
        </p:spPr>
      </p:sp>
      <p:sp>
        <p:nvSpPr>
          <p:cNvPr id="10" name="Text 7"/>
          <p:cNvSpPr txBox="1"/>
          <p:nvPr/>
        </p:nvSpPr>
        <p:spPr>
          <a:xfrm>
            <a:off x="9235440" y="3017520"/>
            <a:ext cx="2423160" cy="685800"/>
          </a:xfrm>
          <a:prstGeom prst="rect">
            <a:avLst/>
          </a:prstGeom>
          <a:noFill/>
          <a:ln/>
        </p:spPr>
        <p:txBody>
          <a:bodyPr wrap="square" lIns="0" tIns="0" rIns="0" bIns="0" rtlCol="0" anchor="ctr"/>
          <a:lstStyle/>
          <a:p>
            <a:pPr algn="ctr" indent="0" marL="0">
              <a:buNone/>
            </a:pPr>
            <a:r>
              <a:rPr lang="en-US" sz="4000" b="1" dirty="0">
                <a:solidFill>
                  <a:srgbClr val="1F3A5F"/>
                </a:solidFill>
                <a:latin typeface="Cambria" pitchFamily="34" charset="0"/>
                <a:ea typeface="Cambria" pitchFamily="34" charset="-122"/>
                <a:cs typeface="Cambria" pitchFamily="34" charset="-120"/>
              </a:rPr>
              <a:t>2</a:t>
            </a:r>
            <a:endParaRPr lang="en-US" sz="4000" dirty="0"/>
          </a:p>
        </p:txBody>
      </p:sp>
      <p:sp>
        <p:nvSpPr>
          <p:cNvPr id="11" name="Text 8"/>
          <p:cNvSpPr txBox="1"/>
          <p:nvPr/>
        </p:nvSpPr>
        <p:spPr>
          <a:xfrm>
            <a:off x="9326880" y="3703320"/>
            <a:ext cx="2240280" cy="50292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«бірге-көп» байланыс</a:t>
            </a:r>
            <a:endParaRPr lang="en-US" sz="1300" dirty="0"/>
          </a:p>
        </p:txBody>
      </p:sp>
      <p:sp>
        <p:nvSpPr>
          <p:cNvPr id="12" name="Shape 9"/>
          <p:cNvSpPr/>
          <p:nvPr/>
        </p:nvSpPr>
        <p:spPr>
          <a:xfrm>
            <a:off x="9235440" y="4526280"/>
            <a:ext cx="2423160" cy="1371600"/>
          </a:xfrm>
          <a:prstGeom prst="roundRect">
            <a:avLst>
              <a:gd name="adj" fmla="val 5333"/>
            </a:avLst>
          </a:prstGeom>
          <a:solidFill>
            <a:srgbClr val="F3F5F8"/>
          </a:solidFill>
          <a:ln w="9525">
            <a:solidFill>
              <a:srgbClr val="D5DBE3"/>
            </a:solidFill>
            <a:prstDash val="solid"/>
          </a:ln>
        </p:spPr>
      </p:sp>
      <p:sp>
        <p:nvSpPr>
          <p:cNvPr id="13" name="Text 10"/>
          <p:cNvSpPr txBox="1"/>
          <p:nvPr/>
        </p:nvSpPr>
        <p:spPr>
          <a:xfrm>
            <a:off x="9235440" y="4617720"/>
            <a:ext cx="2423160" cy="685800"/>
          </a:xfrm>
          <a:prstGeom prst="rect">
            <a:avLst/>
          </a:prstGeom>
          <a:noFill/>
          <a:ln/>
        </p:spPr>
        <p:txBody>
          <a:bodyPr wrap="square" lIns="0" tIns="0" rIns="0" bIns="0" rtlCol="0" anchor="ctr"/>
          <a:lstStyle/>
          <a:p>
            <a:pPr algn="ctr" indent="0" marL="0">
              <a:buNone/>
            </a:pPr>
            <a:r>
              <a:rPr lang="en-US" sz="4000" b="1" dirty="0">
                <a:solidFill>
                  <a:srgbClr val="9C2F2F"/>
                </a:solidFill>
                <a:latin typeface="Cambria" pitchFamily="34" charset="0"/>
                <a:ea typeface="Cambria" pitchFamily="34" charset="-122"/>
                <a:cs typeface="Cambria" pitchFamily="34" charset="-120"/>
              </a:rPr>
              <a:t>1</a:t>
            </a:r>
            <a:endParaRPr lang="en-US" sz="4000" dirty="0"/>
          </a:p>
        </p:txBody>
      </p:sp>
      <p:sp>
        <p:nvSpPr>
          <p:cNvPr id="14" name="Text 11"/>
          <p:cNvSpPr txBox="1"/>
          <p:nvPr/>
        </p:nvSpPr>
        <p:spPr>
          <a:xfrm>
            <a:off x="9326880" y="5303520"/>
            <a:ext cx="2240280" cy="50292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«көпке-көп» байланыс → аралық кесте</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Деректер базасының диаграммасы</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12064" y="1060704"/>
            <a:ext cx="11137392" cy="4008501"/>
          </a:xfrm>
          <a:prstGeom prst="rect">
            <a:avLst/>
          </a:prstGeom>
          <a:solidFill>
            <a:srgbClr val="FFFFFF"/>
          </a:solidFill>
          <a:ln w="9525">
            <a:solidFill>
              <a:srgbClr val="D5DBE3"/>
            </a:solidFill>
            <a:prstDash val="solid"/>
          </a:ln>
          <a:effectLst>
            <a:outerShdw sx="100000" sy="100000" kx="0" ky="0" algn="bl" rotWithShape="0" blurRad="101600" dist="25400" dir="5400000">
              <a:srgbClr val="000000">
                <a:alpha val="18000"/>
              </a:srgbClr>
            </a:outerShdw>
          </a:effectLst>
        </p:spPr>
      </p:sp>
      <p:pic>
        <p:nvPicPr>
          <p:cNvPr id="6" name="Image 0" descr="C:/Users/Administrator/k/Claude_EduDocs/EduDocs/er_diagram.png">    </p:cNvPr>
          <p:cNvPicPr>
            <a:picLocks noChangeAspect="1"/>
          </p:cNvPicPr>
          <p:nvPr/>
        </p:nvPicPr>
        <p:blipFill>
          <a:blip r:embed="rId5"/>
          <a:srcRect/>
          <a:stretch>
            <a:fillRect/>
          </a:stretch>
        </p:blipFill>
        <p:spPr>
          <a:xfrm>
            <a:off x="548640" y="1097280"/>
            <a:ext cx="11064240" cy="3935349"/>
          </a:xfrm>
          <a:prstGeom prst="rect">
            <a:avLst/>
          </a:prstGeom>
        </p:spPr>
      </p:pic>
      <p:sp>
        <p:nvSpPr>
          <p:cNvPr id="7" name="Shape 4"/>
          <p:cNvSpPr/>
          <p:nvPr/>
        </p:nvSpPr>
        <p:spPr>
          <a:xfrm>
            <a:off x="548640" y="5230368"/>
            <a:ext cx="1737360" cy="914400"/>
          </a:xfrm>
          <a:prstGeom prst="roundRect">
            <a:avLst>
              <a:gd name="adj" fmla="val 6957"/>
            </a:avLst>
          </a:prstGeom>
          <a:solidFill>
            <a:srgbClr val="F3F5F8"/>
          </a:solidFill>
          <a:ln w="9525">
            <a:solidFill>
              <a:srgbClr val="D5DBE3"/>
            </a:solidFill>
            <a:prstDash val="solid"/>
          </a:ln>
        </p:spPr>
      </p:sp>
      <p:sp>
        <p:nvSpPr>
          <p:cNvPr id="8" name="Text 5"/>
          <p:cNvSpPr txBox="1"/>
          <p:nvPr/>
        </p:nvSpPr>
        <p:spPr>
          <a:xfrm>
            <a:off x="548640" y="5248656"/>
            <a:ext cx="1737360" cy="530352"/>
          </a:xfrm>
          <a:prstGeom prst="rect">
            <a:avLst/>
          </a:prstGeom>
          <a:noFill/>
          <a:ln/>
        </p:spPr>
        <p:txBody>
          <a:bodyPr wrap="square" lIns="0" tIns="0" rIns="0" bIns="0" rtlCol="0" anchor="ctr"/>
          <a:lstStyle/>
          <a:p>
            <a:pPr algn="ctr" indent="0" marL="0">
              <a:buNone/>
            </a:pPr>
            <a:r>
              <a:rPr lang="en-US" sz="3200" b="1" dirty="0">
                <a:solidFill>
                  <a:srgbClr val="1F3A5F"/>
                </a:solidFill>
                <a:latin typeface="Cambria" pitchFamily="34" charset="0"/>
                <a:ea typeface="Cambria" pitchFamily="34" charset="-122"/>
                <a:cs typeface="Cambria" pitchFamily="34" charset="-120"/>
              </a:rPr>
              <a:t>6</a:t>
            </a:r>
            <a:endParaRPr lang="en-US" sz="3200" dirty="0"/>
          </a:p>
        </p:txBody>
      </p:sp>
      <p:sp>
        <p:nvSpPr>
          <p:cNvPr id="9" name="Text 6"/>
          <p:cNvSpPr txBox="1"/>
          <p:nvPr/>
        </p:nvSpPr>
        <p:spPr>
          <a:xfrm>
            <a:off x="548640" y="5779008"/>
            <a:ext cx="1737360" cy="292608"/>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кесте</a:t>
            </a:r>
            <a:endParaRPr lang="en-US" sz="1400" dirty="0"/>
          </a:p>
        </p:txBody>
      </p:sp>
      <p:sp>
        <p:nvSpPr>
          <p:cNvPr id="10" name="Shape 7"/>
          <p:cNvSpPr/>
          <p:nvPr/>
        </p:nvSpPr>
        <p:spPr>
          <a:xfrm>
            <a:off x="2414016" y="5230368"/>
            <a:ext cx="1737360" cy="914400"/>
          </a:xfrm>
          <a:prstGeom prst="roundRect">
            <a:avLst>
              <a:gd name="adj" fmla="val 6957"/>
            </a:avLst>
          </a:prstGeom>
          <a:solidFill>
            <a:srgbClr val="F3F5F8"/>
          </a:solidFill>
          <a:ln w="9525">
            <a:solidFill>
              <a:srgbClr val="D5DBE3"/>
            </a:solidFill>
            <a:prstDash val="solid"/>
          </a:ln>
        </p:spPr>
      </p:sp>
      <p:sp>
        <p:nvSpPr>
          <p:cNvPr id="11" name="Text 8"/>
          <p:cNvSpPr txBox="1"/>
          <p:nvPr/>
        </p:nvSpPr>
        <p:spPr>
          <a:xfrm>
            <a:off x="2414016" y="5248656"/>
            <a:ext cx="1737360" cy="530352"/>
          </a:xfrm>
          <a:prstGeom prst="rect">
            <a:avLst/>
          </a:prstGeom>
          <a:noFill/>
          <a:ln/>
        </p:spPr>
        <p:txBody>
          <a:bodyPr wrap="square" lIns="0" tIns="0" rIns="0" bIns="0" rtlCol="0" anchor="ctr"/>
          <a:lstStyle/>
          <a:p>
            <a:pPr algn="ctr" indent="0" marL="0">
              <a:buNone/>
            </a:pPr>
            <a:r>
              <a:rPr lang="en-US" sz="3200" b="1" dirty="0">
                <a:solidFill>
                  <a:srgbClr val="1F3A5F"/>
                </a:solidFill>
                <a:latin typeface="Cambria" pitchFamily="34" charset="0"/>
                <a:ea typeface="Cambria" pitchFamily="34" charset="-122"/>
                <a:cs typeface="Cambria" pitchFamily="34" charset="-120"/>
              </a:rPr>
              <a:t>32</a:t>
            </a:r>
            <a:endParaRPr lang="en-US" sz="3200" dirty="0"/>
          </a:p>
        </p:txBody>
      </p:sp>
      <p:sp>
        <p:nvSpPr>
          <p:cNvPr id="12" name="Text 9"/>
          <p:cNvSpPr txBox="1"/>
          <p:nvPr/>
        </p:nvSpPr>
        <p:spPr>
          <a:xfrm>
            <a:off x="2414016" y="5779008"/>
            <a:ext cx="1737360" cy="292608"/>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өріс</a:t>
            </a:r>
            <a:endParaRPr lang="en-US" sz="1400" dirty="0"/>
          </a:p>
        </p:txBody>
      </p:sp>
      <p:sp>
        <p:nvSpPr>
          <p:cNvPr id="13" name="Shape 10"/>
          <p:cNvSpPr/>
          <p:nvPr/>
        </p:nvSpPr>
        <p:spPr>
          <a:xfrm>
            <a:off x="4279392" y="5230368"/>
            <a:ext cx="1737360" cy="914400"/>
          </a:xfrm>
          <a:prstGeom prst="roundRect">
            <a:avLst>
              <a:gd name="adj" fmla="val 6957"/>
            </a:avLst>
          </a:prstGeom>
          <a:solidFill>
            <a:srgbClr val="F3F5F8"/>
          </a:solidFill>
          <a:ln w="9525">
            <a:solidFill>
              <a:srgbClr val="D5DBE3"/>
            </a:solidFill>
            <a:prstDash val="solid"/>
          </a:ln>
        </p:spPr>
      </p:sp>
      <p:sp>
        <p:nvSpPr>
          <p:cNvPr id="14" name="Text 11"/>
          <p:cNvSpPr txBox="1"/>
          <p:nvPr/>
        </p:nvSpPr>
        <p:spPr>
          <a:xfrm>
            <a:off x="4279392" y="5248656"/>
            <a:ext cx="1737360" cy="530352"/>
          </a:xfrm>
          <a:prstGeom prst="rect">
            <a:avLst/>
          </a:prstGeom>
          <a:noFill/>
          <a:ln/>
        </p:spPr>
        <p:txBody>
          <a:bodyPr wrap="square" lIns="0" tIns="0" rIns="0" bIns="0" rtlCol="0" anchor="ctr"/>
          <a:lstStyle/>
          <a:p>
            <a:pPr algn="ctr" indent="0" marL="0">
              <a:buNone/>
            </a:pPr>
            <a:r>
              <a:rPr lang="en-US" sz="3200" b="1" dirty="0">
                <a:solidFill>
                  <a:srgbClr val="1F3A5F"/>
                </a:solidFill>
                <a:latin typeface="Cambria" pitchFamily="34" charset="0"/>
                <a:ea typeface="Cambria" pitchFamily="34" charset="-122"/>
                <a:cs typeface="Cambria" pitchFamily="34" charset="-120"/>
              </a:rPr>
              <a:t>4</a:t>
            </a:r>
            <a:endParaRPr lang="en-US" sz="3200" dirty="0"/>
          </a:p>
        </p:txBody>
      </p:sp>
      <p:sp>
        <p:nvSpPr>
          <p:cNvPr id="15" name="Text 12"/>
          <p:cNvSpPr txBox="1"/>
          <p:nvPr/>
        </p:nvSpPr>
        <p:spPr>
          <a:xfrm>
            <a:off x="4279392" y="5779008"/>
            <a:ext cx="1737360" cy="292608"/>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сыртқы кілт</a:t>
            </a:r>
            <a:endParaRPr lang="en-US" sz="1400" dirty="0"/>
          </a:p>
        </p:txBody>
      </p:sp>
      <p:sp>
        <p:nvSpPr>
          <p:cNvPr id="16" name="Shape 13"/>
          <p:cNvSpPr/>
          <p:nvPr/>
        </p:nvSpPr>
        <p:spPr>
          <a:xfrm>
            <a:off x="6144768" y="5230368"/>
            <a:ext cx="1737360" cy="914400"/>
          </a:xfrm>
          <a:prstGeom prst="roundRect">
            <a:avLst>
              <a:gd name="adj" fmla="val 6957"/>
            </a:avLst>
          </a:prstGeom>
          <a:solidFill>
            <a:srgbClr val="F3F5F8"/>
          </a:solidFill>
          <a:ln w="9525">
            <a:solidFill>
              <a:srgbClr val="D5DBE3"/>
            </a:solidFill>
            <a:prstDash val="solid"/>
          </a:ln>
        </p:spPr>
      </p:sp>
      <p:sp>
        <p:nvSpPr>
          <p:cNvPr id="17" name="Text 14"/>
          <p:cNvSpPr txBox="1"/>
          <p:nvPr/>
        </p:nvSpPr>
        <p:spPr>
          <a:xfrm>
            <a:off x="6144768" y="5248656"/>
            <a:ext cx="1737360" cy="530352"/>
          </a:xfrm>
          <a:prstGeom prst="rect">
            <a:avLst/>
          </a:prstGeom>
          <a:noFill/>
          <a:ln/>
        </p:spPr>
        <p:txBody>
          <a:bodyPr wrap="square" lIns="0" tIns="0" rIns="0" bIns="0" rtlCol="0" anchor="ctr"/>
          <a:lstStyle/>
          <a:p>
            <a:pPr algn="ctr" indent="0" marL="0">
              <a:buNone/>
            </a:pPr>
            <a:r>
              <a:rPr lang="en-US" sz="3200" b="1" dirty="0">
                <a:solidFill>
                  <a:srgbClr val="1F3A5F"/>
                </a:solidFill>
                <a:latin typeface="Cambria" pitchFamily="34" charset="0"/>
                <a:ea typeface="Cambria" pitchFamily="34" charset="-122"/>
                <a:cs typeface="Cambria" pitchFamily="34" charset="-120"/>
              </a:rPr>
              <a:t>2</a:t>
            </a:r>
            <a:endParaRPr lang="en-US" sz="3200" dirty="0"/>
          </a:p>
        </p:txBody>
      </p:sp>
      <p:sp>
        <p:nvSpPr>
          <p:cNvPr id="18" name="Text 15"/>
          <p:cNvSpPr txBox="1"/>
          <p:nvPr/>
        </p:nvSpPr>
        <p:spPr>
          <a:xfrm>
            <a:off x="6144768" y="5779008"/>
            <a:ext cx="1737360" cy="292608"/>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индекс</a:t>
            </a:r>
            <a:endParaRPr lang="en-US" sz="1400" dirty="0"/>
          </a:p>
        </p:txBody>
      </p:sp>
      <p:sp>
        <p:nvSpPr>
          <p:cNvPr id="19" name="Shape 16"/>
          <p:cNvSpPr/>
          <p:nvPr/>
        </p:nvSpPr>
        <p:spPr>
          <a:xfrm>
            <a:off x="8010144" y="5230368"/>
            <a:ext cx="1737360" cy="914400"/>
          </a:xfrm>
          <a:prstGeom prst="roundRect">
            <a:avLst>
              <a:gd name="adj" fmla="val 6957"/>
            </a:avLst>
          </a:prstGeom>
          <a:solidFill>
            <a:srgbClr val="F3F5F8"/>
          </a:solidFill>
          <a:ln w="9525">
            <a:solidFill>
              <a:srgbClr val="D5DBE3"/>
            </a:solidFill>
            <a:prstDash val="solid"/>
          </a:ln>
        </p:spPr>
      </p:sp>
      <p:sp>
        <p:nvSpPr>
          <p:cNvPr id="20" name="Text 17"/>
          <p:cNvSpPr txBox="1"/>
          <p:nvPr/>
        </p:nvSpPr>
        <p:spPr>
          <a:xfrm>
            <a:off x="8010144" y="5248656"/>
            <a:ext cx="1737360" cy="530352"/>
          </a:xfrm>
          <a:prstGeom prst="rect">
            <a:avLst/>
          </a:prstGeom>
          <a:noFill/>
          <a:ln/>
        </p:spPr>
        <p:txBody>
          <a:bodyPr wrap="square" lIns="0" tIns="0" rIns="0" bIns="0" rtlCol="0" anchor="ctr"/>
          <a:lstStyle/>
          <a:p>
            <a:pPr algn="ctr" indent="0" marL="0">
              <a:buNone/>
            </a:pPr>
            <a:r>
              <a:rPr lang="en-US" sz="3200" b="1" dirty="0">
                <a:solidFill>
                  <a:srgbClr val="1F3A5F"/>
                </a:solidFill>
                <a:latin typeface="Cambria" pitchFamily="34" charset="0"/>
                <a:ea typeface="Cambria" pitchFamily="34" charset="-122"/>
                <a:cs typeface="Cambria" pitchFamily="34" charset="-120"/>
              </a:rPr>
              <a:t>1</a:t>
            </a:r>
            <a:endParaRPr lang="en-US" sz="3200" dirty="0"/>
          </a:p>
        </p:txBody>
      </p:sp>
      <p:sp>
        <p:nvSpPr>
          <p:cNvPr id="21" name="Text 18"/>
          <p:cNvSpPr txBox="1"/>
          <p:nvPr/>
        </p:nvSpPr>
        <p:spPr>
          <a:xfrm>
            <a:off x="8010144" y="5779008"/>
            <a:ext cx="1737360" cy="292608"/>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триггер</a:t>
            </a:r>
            <a:endParaRPr lang="en-US" sz="1400" dirty="0"/>
          </a:p>
        </p:txBody>
      </p:sp>
      <p:sp>
        <p:nvSpPr>
          <p:cNvPr id="22" name="Shape 19"/>
          <p:cNvSpPr/>
          <p:nvPr/>
        </p:nvSpPr>
        <p:spPr>
          <a:xfrm>
            <a:off x="9875520" y="5230368"/>
            <a:ext cx="1737360" cy="914400"/>
          </a:xfrm>
          <a:prstGeom prst="roundRect">
            <a:avLst>
              <a:gd name="adj" fmla="val 6957"/>
            </a:avLst>
          </a:prstGeom>
          <a:solidFill>
            <a:srgbClr val="F3F5F8"/>
          </a:solidFill>
          <a:ln w="9525">
            <a:solidFill>
              <a:srgbClr val="D5DBE3"/>
            </a:solidFill>
            <a:prstDash val="solid"/>
          </a:ln>
        </p:spPr>
      </p:sp>
      <p:sp>
        <p:nvSpPr>
          <p:cNvPr id="23" name="Text 20"/>
          <p:cNvSpPr txBox="1"/>
          <p:nvPr/>
        </p:nvSpPr>
        <p:spPr>
          <a:xfrm>
            <a:off x="9875520" y="5248656"/>
            <a:ext cx="1737360" cy="530352"/>
          </a:xfrm>
          <a:prstGeom prst="rect">
            <a:avLst/>
          </a:prstGeom>
          <a:noFill/>
          <a:ln/>
        </p:spPr>
        <p:txBody>
          <a:bodyPr wrap="square" lIns="0" tIns="0" rIns="0" bIns="0" rtlCol="0" anchor="ctr"/>
          <a:lstStyle/>
          <a:p>
            <a:pPr algn="ctr" indent="0" marL="0">
              <a:buNone/>
            </a:pPr>
            <a:r>
              <a:rPr lang="en-US" sz="3200" b="1" dirty="0">
                <a:solidFill>
                  <a:srgbClr val="1F3A5F"/>
                </a:solidFill>
                <a:latin typeface="Cambria" pitchFamily="34" charset="0"/>
                <a:ea typeface="Cambria" pitchFamily="34" charset="-122"/>
                <a:cs typeface="Cambria" pitchFamily="34" charset="-120"/>
              </a:rPr>
              <a:t>1</a:t>
            </a:r>
            <a:endParaRPr lang="en-US" sz="3200" dirty="0"/>
          </a:p>
        </p:txBody>
      </p:sp>
      <p:sp>
        <p:nvSpPr>
          <p:cNvPr id="24" name="Text 21"/>
          <p:cNvSpPr txBox="1"/>
          <p:nvPr/>
        </p:nvSpPr>
        <p:spPr>
          <a:xfrm>
            <a:off x="9875520" y="5779008"/>
            <a:ext cx="1737360" cy="292608"/>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көрініс</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Нормалдау және деректер бүтіндігі</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48640" y="1188720"/>
            <a:ext cx="5440680" cy="4983480"/>
          </a:xfrm>
          <a:prstGeom prst="roundRect">
            <a:avLst>
              <a:gd name="adj" fmla="val 1468"/>
            </a:avLst>
          </a:prstGeom>
          <a:solidFill>
            <a:srgbClr val="F3F5F8"/>
          </a:solidFill>
          <a:ln w="9525">
            <a:solidFill>
              <a:srgbClr val="D5DBE3"/>
            </a:solidFill>
            <a:prstDash val="solid"/>
          </a:ln>
        </p:spPr>
      </p:sp>
      <p:sp>
        <p:nvSpPr>
          <p:cNvPr id="6" name="Text 4"/>
          <p:cNvSpPr txBox="1"/>
          <p:nvPr/>
        </p:nvSpPr>
        <p:spPr>
          <a:xfrm>
            <a:off x="822960" y="1325880"/>
            <a:ext cx="4937760" cy="411480"/>
          </a:xfrm>
          <a:prstGeom prst="rect">
            <a:avLst/>
          </a:prstGeom>
          <a:noFill/>
          <a:ln/>
        </p:spPr>
        <p:txBody>
          <a:bodyPr wrap="square" lIns="0" tIns="0" rIns="0" bIns="0" rtlCol="0" anchor="ctr"/>
          <a:lstStyle/>
          <a:p>
            <a:pPr indent="0" marL="0">
              <a:buNone/>
            </a:pPr>
            <a:r>
              <a:rPr lang="en-US" sz="2000" b="1" dirty="0">
                <a:solidFill>
                  <a:srgbClr val="1F3A5F"/>
                </a:solidFill>
                <a:latin typeface="Cambria" pitchFamily="34" charset="0"/>
                <a:ea typeface="Cambria" pitchFamily="34" charset="-122"/>
                <a:cs typeface="Cambria" pitchFamily="34" charset="-120"/>
              </a:rPr>
              <a:t>Үшінші қалыпты форма</a:t>
            </a:r>
            <a:endParaRPr lang="en-US" sz="2000" dirty="0"/>
          </a:p>
        </p:txBody>
      </p:sp>
      <p:sp>
        <p:nvSpPr>
          <p:cNvPr id="7" name="Shape 5"/>
          <p:cNvSpPr/>
          <p:nvPr/>
        </p:nvSpPr>
        <p:spPr>
          <a:xfrm>
            <a:off x="822960" y="1920240"/>
            <a:ext cx="512064" cy="512064"/>
          </a:xfrm>
          <a:prstGeom prst="ellipse">
            <a:avLst/>
          </a:prstGeom>
          <a:solidFill>
            <a:srgbClr val="1F3A5F"/>
          </a:solidFill>
          <a:ln w="12700">
            <a:solidFill>
              <a:srgbClr val="1F3A5F"/>
            </a:solidFill>
            <a:prstDash val="solid"/>
          </a:ln>
        </p:spPr>
      </p:sp>
      <p:pic>
        <p:nvPicPr>
          <p:cNvPr id="8" name="Image 0" descr="C:\Users\Administrator\AppData\Local\Temp\claude\C--Users-Administrator\3bae1df8-6f55-4fee-a59f-2e7e3d58a40d\scratchpad\deck\icons\library_w.png">    </p:cNvPr>
          <p:cNvPicPr>
            <a:picLocks noChangeAspect="1"/>
          </p:cNvPicPr>
          <p:nvPr/>
        </p:nvPicPr>
        <p:blipFill>
          <a:blip r:embed="rId1"/>
          <a:stretch>
            <a:fillRect/>
          </a:stretch>
        </p:blipFill>
        <p:spPr>
          <a:xfrm>
            <a:off x="925373" y="2022653"/>
            <a:ext cx="307238" cy="307238"/>
          </a:xfrm>
          <a:prstGeom prst="rect">
            <a:avLst/>
          </a:prstGeom>
        </p:spPr>
      </p:pic>
      <p:sp>
        <p:nvSpPr>
          <p:cNvPr id="9" name="Text 6"/>
          <p:cNvSpPr txBox="1"/>
          <p:nvPr/>
        </p:nvSpPr>
        <p:spPr>
          <a:xfrm>
            <a:off x="1508760" y="1810512"/>
            <a:ext cx="4297680" cy="74980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Құжат түрінің атауы, санаты, сақтау мерзімі – жеке анықтамалықта (document_types)</a:t>
            </a:r>
            <a:endParaRPr lang="en-US" sz="1400" dirty="0"/>
          </a:p>
        </p:txBody>
      </p:sp>
      <p:sp>
        <p:nvSpPr>
          <p:cNvPr id="10" name="Shape 7"/>
          <p:cNvSpPr/>
          <p:nvPr/>
        </p:nvSpPr>
        <p:spPr>
          <a:xfrm>
            <a:off x="822960" y="2944368"/>
            <a:ext cx="512064" cy="512064"/>
          </a:xfrm>
          <a:prstGeom prst="ellipse">
            <a:avLst/>
          </a:prstGeom>
          <a:solidFill>
            <a:srgbClr val="1F3A5F"/>
          </a:solidFill>
          <a:ln w="12700">
            <a:solidFill>
              <a:srgbClr val="1F3A5F"/>
            </a:solidFill>
            <a:prstDash val="solid"/>
          </a:ln>
        </p:spPr>
      </p:sp>
      <p:pic>
        <p:nvPicPr>
          <p:cNvPr id="11" name="Image 1" descr="C:\Users\Administrator\AppData\Local\Temp\claude\C--Users-Administrator\3bae1df8-6f55-4fee-a59f-2e7e3d58a40d\scratchpad\deck\icons\calendar_w.png">    </p:cNvPr>
          <p:cNvPicPr>
            <a:picLocks noChangeAspect="1"/>
          </p:cNvPicPr>
          <p:nvPr/>
        </p:nvPicPr>
        <p:blipFill>
          <a:blip r:embed="rId2"/>
          <a:stretch>
            <a:fillRect/>
          </a:stretch>
        </p:blipFill>
        <p:spPr>
          <a:xfrm>
            <a:off x="925373" y="3046781"/>
            <a:ext cx="307238" cy="307238"/>
          </a:xfrm>
          <a:prstGeom prst="rect">
            <a:avLst/>
          </a:prstGeom>
        </p:spPr>
      </p:pic>
      <p:sp>
        <p:nvSpPr>
          <p:cNvPr id="12" name="Text 8"/>
          <p:cNvSpPr txBox="1"/>
          <p:nvPr/>
        </p:nvSpPr>
        <p:spPr>
          <a:xfrm>
            <a:off x="1508760" y="2834640"/>
            <a:ext cx="4297680" cy="74980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Бөлімшенің атауы әр құжатта қайталанбайды – departments кестесі</a:t>
            </a:r>
            <a:endParaRPr lang="en-US" sz="1400" dirty="0"/>
          </a:p>
        </p:txBody>
      </p:sp>
      <p:sp>
        <p:nvSpPr>
          <p:cNvPr id="13" name="Shape 9"/>
          <p:cNvSpPr/>
          <p:nvPr/>
        </p:nvSpPr>
        <p:spPr>
          <a:xfrm>
            <a:off x="822960" y="3968496"/>
            <a:ext cx="512064" cy="512064"/>
          </a:xfrm>
          <a:prstGeom prst="ellipse">
            <a:avLst/>
          </a:prstGeom>
          <a:solidFill>
            <a:srgbClr val="1F3A5F"/>
          </a:solidFill>
          <a:ln w="12700">
            <a:solidFill>
              <a:srgbClr val="1F3A5F"/>
            </a:solidFill>
            <a:prstDash val="solid"/>
          </a:ln>
        </p:spPr>
      </p:sp>
      <p:pic>
        <p:nvPicPr>
          <p:cNvPr id="14" name="Image 2" descr="C:\Users\Administrator\AppData\Local\Temp\claude\C--Users-Administrator\3bae1df8-6f55-4fee-a59f-2e7e3d58a40d\scratchpad\deck\icons\report_w.png">    </p:cNvPr>
          <p:cNvPicPr>
            <a:picLocks noChangeAspect="1"/>
          </p:cNvPicPr>
          <p:nvPr/>
        </p:nvPicPr>
        <p:blipFill>
          <a:blip r:embed="rId3"/>
          <a:stretch>
            <a:fillRect/>
          </a:stretch>
        </p:blipFill>
        <p:spPr>
          <a:xfrm>
            <a:off x="925373" y="4070909"/>
            <a:ext cx="307238" cy="307238"/>
          </a:xfrm>
          <a:prstGeom prst="rect">
            <a:avLst/>
          </a:prstGeom>
        </p:spPr>
      </p:pic>
      <p:sp>
        <p:nvSpPr>
          <p:cNvPr id="15" name="Text 10"/>
          <p:cNvSpPr txBox="1"/>
          <p:nvPr/>
        </p:nvSpPr>
        <p:spPr>
          <a:xfrm>
            <a:off x="1508760" y="3858768"/>
            <a:ext cx="4297680" cy="74980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Құжат түрі мен бөлімшеге тек id арқылы сілтеме жасалады (сыртқы кілт)</a:t>
            </a:r>
            <a:endParaRPr lang="en-US" sz="1400" dirty="0"/>
          </a:p>
        </p:txBody>
      </p:sp>
      <p:sp>
        <p:nvSpPr>
          <p:cNvPr id="16" name="Shape 11"/>
          <p:cNvSpPr/>
          <p:nvPr/>
        </p:nvSpPr>
        <p:spPr>
          <a:xfrm>
            <a:off x="822960" y="4992624"/>
            <a:ext cx="512064" cy="512064"/>
          </a:xfrm>
          <a:prstGeom prst="ellipse">
            <a:avLst/>
          </a:prstGeom>
          <a:solidFill>
            <a:srgbClr val="1F3A5F"/>
          </a:solidFill>
          <a:ln w="12700">
            <a:solidFill>
              <a:srgbClr val="1F3A5F"/>
            </a:solidFill>
            <a:prstDash val="solid"/>
          </a:ln>
        </p:spPr>
      </p:sp>
      <p:pic>
        <p:nvPicPr>
          <p:cNvPr id="17" name="Image 3" descr="C:\Users\Administrator\AppData\Local\Temp\claude\C--Users-Administrator\3bae1df8-6f55-4fee-a59f-2e7e3d58a40d\scratchpad\deck\icons\list_w.png">    </p:cNvPr>
          <p:cNvPicPr>
            <a:picLocks noChangeAspect="1"/>
          </p:cNvPicPr>
          <p:nvPr/>
        </p:nvPicPr>
        <p:blipFill>
          <a:blip r:embed="rId4"/>
          <a:stretch>
            <a:fillRect/>
          </a:stretch>
        </p:blipFill>
        <p:spPr>
          <a:xfrm>
            <a:off x="925373" y="5095037"/>
            <a:ext cx="307238" cy="307238"/>
          </a:xfrm>
          <a:prstGeom prst="rect">
            <a:avLst/>
          </a:prstGeom>
        </p:spPr>
      </p:pic>
      <p:sp>
        <p:nvSpPr>
          <p:cNvPr id="18" name="Text 12"/>
          <p:cNvSpPr txBox="1"/>
          <p:nvPr/>
        </p:nvSpPr>
        <p:spPr>
          <a:xfrm>
            <a:off x="1508760" y="4882896"/>
            <a:ext cx="4297680" cy="74980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Бұйрықтағы білім алушылар бір өріске жазылмайды – document_students (1ҚФ)</a:t>
            </a:r>
            <a:endParaRPr lang="en-US" sz="1400" dirty="0"/>
          </a:p>
        </p:txBody>
      </p:sp>
      <p:sp>
        <p:nvSpPr>
          <p:cNvPr id="19" name="Shape 13"/>
          <p:cNvSpPr/>
          <p:nvPr/>
        </p:nvSpPr>
        <p:spPr>
          <a:xfrm>
            <a:off x="6217920" y="1188720"/>
            <a:ext cx="5440680" cy="4983480"/>
          </a:xfrm>
          <a:prstGeom prst="roundRect">
            <a:avLst>
              <a:gd name="adj" fmla="val 1468"/>
            </a:avLst>
          </a:prstGeom>
          <a:solidFill>
            <a:srgbClr val="F3F5F8"/>
          </a:solidFill>
          <a:ln w="9525">
            <a:solidFill>
              <a:srgbClr val="D5DBE3"/>
            </a:solidFill>
            <a:prstDash val="solid"/>
          </a:ln>
        </p:spPr>
      </p:sp>
      <p:sp>
        <p:nvSpPr>
          <p:cNvPr id="20" name="Text 14"/>
          <p:cNvSpPr txBox="1"/>
          <p:nvPr/>
        </p:nvSpPr>
        <p:spPr>
          <a:xfrm>
            <a:off x="6492240" y="1325880"/>
            <a:ext cx="4937760" cy="411480"/>
          </a:xfrm>
          <a:prstGeom prst="rect">
            <a:avLst/>
          </a:prstGeom>
          <a:noFill/>
          <a:ln/>
        </p:spPr>
        <p:txBody>
          <a:bodyPr wrap="square" lIns="0" tIns="0" rIns="0" bIns="0" rtlCol="0" anchor="ctr"/>
          <a:lstStyle/>
          <a:p>
            <a:pPr indent="0" marL="0">
              <a:buNone/>
            </a:pPr>
            <a:r>
              <a:rPr lang="en-US" sz="2000" b="1" dirty="0">
                <a:solidFill>
                  <a:srgbClr val="2E6F6F"/>
                </a:solidFill>
                <a:latin typeface="Cambria" pitchFamily="34" charset="0"/>
                <a:ea typeface="Cambria" pitchFamily="34" charset="-122"/>
                <a:cs typeface="Cambria" pitchFamily="34" charset="-120"/>
              </a:rPr>
              <a:t>Бүтіндік шектеулері</a:t>
            </a:r>
            <a:endParaRPr lang="en-US" sz="2000" dirty="0"/>
          </a:p>
        </p:txBody>
      </p:sp>
      <p:sp>
        <p:nvSpPr>
          <p:cNvPr id="21" name="Text 15"/>
          <p:cNvSpPr txBox="1"/>
          <p:nvPr/>
        </p:nvSpPr>
        <p:spPr>
          <a:xfrm>
            <a:off x="6492240" y="1828800"/>
            <a:ext cx="498348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PRIMARY KEY, UNIQUE – тіркеу нөмірі қайталанбайды</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FOREIGN KEY: RESTRICT, CASCADE</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CHECK: күн, оқу жылы, мәртебе, курс 1–4</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Триггер: бекітілген құжатты жоюға тыйым</a:t>
            </a:r>
            <a:endParaRPr lang="en-US" sz="1500" dirty="0"/>
          </a:p>
        </p:txBody>
      </p:sp>
      <p:sp>
        <p:nvSpPr>
          <p:cNvPr id="22" name="Shape 16"/>
          <p:cNvSpPr/>
          <p:nvPr/>
        </p:nvSpPr>
        <p:spPr>
          <a:xfrm>
            <a:off x="6492240" y="3749040"/>
            <a:ext cx="4892040" cy="2194560"/>
          </a:xfrm>
          <a:prstGeom prst="rect">
            <a:avLst/>
          </a:prstGeom>
          <a:solidFill>
            <a:srgbClr val="F4F6F9"/>
          </a:solidFill>
          <a:ln w="9525">
            <a:solidFill>
              <a:srgbClr val="B8C2CF"/>
            </a:solidFill>
            <a:prstDash val="solid"/>
          </a:ln>
        </p:spPr>
      </p:sp>
      <p:sp>
        <p:nvSpPr>
          <p:cNvPr id="23" name="Text 17"/>
          <p:cNvSpPr txBox="1"/>
          <p:nvPr/>
        </p:nvSpPr>
        <p:spPr>
          <a:xfrm>
            <a:off x="6601968" y="3822192"/>
            <a:ext cx="4672584" cy="2048256"/>
          </a:xfrm>
          <a:prstGeom prst="rect">
            <a:avLst/>
          </a:prstGeom>
          <a:noFill/>
          <a:ln/>
        </p:spPr>
        <p:txBody>
          <a:bodyPr wrap="square" lIns="0" tIns="0" rIns="0" bIns="0" rtlCol="0" anchor="t"/>
          <a:lstStyle/>
          <a:p>
            <a:pPr indent="0" marL="0">
              <a:buNone/>
            </a:pPr>
            <a:r>
              <a:rPr lang="en-US" sz="1200" dirty="0">
                <a:solidFill>
                  <a:srgbClr val="0B2545"/>
                </a:solidFill>
                <a:latin typeface="Consolas" pitchFamily="34" charset="0"/>
                <a:ea typeface="Consolas" pitchFamily="34" charset="-122"/>
                <a:cs typeface="Consolas" pitchFamily="34" charset="-120"/>
              </a:rPr>
              <a:t>CREATE TRIGGER trg_protect_approved</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BEFORE DELETE ON documents</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WHEN OLD.status IN ('бекітілді', 'мұрағатта')</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BEGIN</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SELECT RAISE(ABORT,</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'Бекітілген құжатты жоюға болмайды');</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END;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PyCharm ортасындағы 12 қадам</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48640" y="1325880"/>
            <a:ext cx="475488" cy="475488"/>
          </a:xfrm>
          <a:prstGeom prst="ellipse">
            <a:avLst/>
          </a:prstGeom>
          <a:solidFill>
            <a:srgbClr val="1F3A5F"/>
          </a:solidFill>
          <a:ln w="12700">
            <a:solidFill>
              <a:srgbClr val="1F3A5F"/>
            </a:solidFill>
            <a:prstDash val="solid"/>
          </a:ln>
        </p:spPr>
      </p:sp>
      <p:sp>
        <p:nvSpPr>
          <p:cNvPr id="6" name="Text 4"/>
          <p:cNvSpPr txBox="1"/>
          <p:nvPr/>
        </p:nvSpPr>
        <p:spPr>
          <a:xfrm>
            <a:off x="548640" y="13258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txBox="1"/>
          <p:nvPr/>
        </p:nvSpPr>
        <p:spPr>
          <a:xfrm>
            <a:off x="1133856" y="1271016"/>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Қосылу / ажырату</a:t>
            </a:r>
            <a:endParaRPr lang="en-US" sz="1300" dirty="0"/>
          </a:p>
        </p:txBody>
      </p:sp>
      <p:sp>
        <p:nvSpPr>
          <p:cNvPr id="8" name="Shape 6"/>
          <p:cNvSpPr/>
          <p:nvPr/>
        </p:nvSpPr>
        <p:spPr>
          <a:xfrm>
            <a:off x="548640" y="2002536"/>
            <a:ext cx="475488" cy="475488"/>
          </a:xfrm>
          <a:prstGeom prst="ellipse">
            <a:avLst/>
          </a:prstGeom>
          <a:solidFill>
            <a:srgbClr val="1F3A5F"/>
          </a:solidFill>
          <a:ln w="12700">
            <a:solidFill>
              <a:srgbClr val="1F3A5F"/>
            </a:solidFill>
            <a:prstDash val="solid"/>
          </a:ln>
        </p:spPr>
      </p:sp>
      <p:sp>
        <p:nvSpPr>
          <p:cNvPr id="9" name="Text 7"/>
          <p:cNvSpPr txBox="1"/>
          <p:nvPr/>
        </p:nvSpPr>
        <p:spPr>
          <a:xfrm>
            <a:off x="548640" y="200253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0" name="Text 8"/>
          <p:cNvSpPr txBox="1"/>
          <p:nvPr/>
        </p:nvSpPr>
        <p:spPr>
          <a:xfrm>
            <a:off x="1133856" y="1947672"/>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Кестелер мен FK</a:t>
            </a:r>
            <a:endParaRPr lang="en-US" sz="1300" dirty="0"/>
          </a:p>
        </p:txBody>
      </p:sp>
      <p:sp>
        <p:nvSpPr>
          <p:cNvPr id="11" name="Shape 9"/>
          <p:cNvSpPr/>
          <p:nvPr/>
        </p:nvSpPr>
        <p:spPr>
          <a:xfrm>
            <a:off x="548640" y="2679192"/>
            <a:ext cx="475488" cy="475488"/>
          </a:xfrm>
          <a:prstGeom prst="ellipse">
            <a:avLst/>
          </a:prstGeom>
          <a:solidFill>
            <a:srgbClr val="1F3A5F"/>
          </a:solidFill>
          <a:ln w="12700">
            <a:solidFill>
              <a:srgbClr val="1F3A5F"/>
            </a:solidFill>
            <a:prstDash val="solid"/>
          </a:ln>
        </p:spPr>
      </p:sp>
      <p:sp>
        <p:nvSpPr>
          <p:cNvPr id="12" name="Text 10"/>
          <p:cNvSpPr txBox="1"/>
          <p:nvPr/>
        </p:nvSpPr>
        <p:spPr>
          <a:xfrm>
            <a:off x="548640" y="26791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3" name="Text 11"/>
          <p:cNvSpPr txBox="1"/>
          <p:nvPr/>
        </p:nvSpPr>
        <p:spPr>
          <a:xfrm>
            <a:off x="1133856" y="2624328"/>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INSERT</a:t>
            </a:r>
            <a:endParaRPr lang="en-US" sz="1300" dirty="0"/>
          </a:p>
        </p:txBody>
      </p:sp>
      <p:sp>
        <p:nvSpPr>
          <p:cNvPr id="14" name="Shape 12"/>
          <p:cNvSpPr/>
          <p:nvPr/>
        </p:nvSpPr>
        <p:spPr>
          <a:xfrm>
            <a:off x="548640" y="3355848"/>
            <a:ext cx="475488" cy="475488"/>
          </a:xfrm>
          <a:prstGeom prst="ellipse">
            <a:avLst/>
          </a:prstGeom>
          <a:solidFill>
            <a:srgbClr val="1F3A5F"/>
          </a:solidFill>
          <a:ln w="12700">
            <a:solidFill>
              <a:srgbClr val="1F3A5F"/>
            </a:solidFill>
            <a:prstDash val="solid"/>
          </a:ln>
        </p:spPr>
      </p:sp>
      <p:sp>
        <p:nvSpPr>
          <p:cNvPr id="15" name="Text 13"/>
          <p:cNvSpPr txBox="1"/>
          <p:nvPr/>
        </p:nvSpPr>
        <p:spPr>
          <a:xfrm>
            <a:off x="548640" y="335584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6" name="Text 14"/>
          <p:cNvSpPr txBox="1"/>
          <p:nvPr/>
        </p:nvSpPr>
        <p:spPr>
          <a:xfrm>
            <a:off x="1133856" y="3300984"/>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UPDATE / DELETE</a:t>
            </a:r>
            <a:endParaRPr lang="en-US" sz="1300" dirty="0"/>
          </a:p>
        </p:txBody>
      </p:sp>
      <p:sp>
        <p:nvSpPr>
          <p:cNvPr id="17" name="Shape 15"/>
          <p:cNvSpPr/>
          <p:nvPr/>
        </p:nvSpPr>
        <p:spPr>
          <a:xfrm>
            <a:off x="548640" y="4032504"/>
            <a:ext cx="475488" cy="475488"/>
          </a:xfrm>
          <a:prstGeom prst="ellipse">
            <a:avLst/>
          </a:prstGeom>
          <a:solidFill>
            <a:srgbClr val="1F3A5F"/>
          </a:solidFill>
          <a:ln w="12700">
            <a:solidFill>
              <a:srgbClr val="1F3A5F"/>
            </a:solidFill>
            <a:prstDash val="solid"/>
          </a:ln>
        </p:spPr>
      </p:sp>
      <p:sp>
        <p:nvSpPr>
          <p:cNvPr id="18" name="Text 16"/>
          <p:cNvSpPr txBox="1"/>
          <p:nvPr/>
        </p:nvSpPr>
        <p:spPr>
          <a:xfrm>
            <a:off x="548640" y="403250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19" name="Text 17"/>
          <p:cNvSpPr txBox="1"/>
          <p:nvPr/>
        </p:nvSpPr>
        <p:spPr>
          <a:xfrm>
            <a:off x="1133856" y="3977640"/>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SELECT</a:t>
            </a:r>
            <a:endParaRPr lang="en-US" sz="1300" dirty="0"/>
          </a:p>
        </p:txBody>
      </p:sp>
      <p:sp>
        <p:nvSpPr>
          <p:cNvPr id="20" name="Shape 18"/>
          <p:cNvSpPr/>
          <p:nvPr/>
        </p:nvSpPr>
        <p:spPr>
          <a:xfrm>
            <a:off x="548640" y="4709160"/>
            <a:ext cx="475488" cy="475488"/>
          </a:xfrm>
          <a:prstGeom prst="ellipse">
            <a:avLst/>
          </a:prstGeom>
          <a:solidFill>
            <a:srgbClr val="1F3A5F"/>
          </a:solidFill>
          <a:ln w="12700">
            <a:solidFill>
              <a:srgbClr val="1F3A5F"/>
            </a:solidFill>
            <a:prstDash val="solid"/>
          </a:ln>
        </p:spPr>
      </p:sp>
      <p:sp>
        <p:nvSpPr>
          <p:cNvPr id="21" name="Text 19"/>
          <p:cNvSpPr txBox="1"/>
          <p:nvPr/>
        </p:nvSpPr>
        <p:spPr>
          <a:xfrm>
            <a:off x="548640" y="470916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06</a:t>
            </a:r>
            <a:endParaRPr lang="en-US" sz="1300" dirty="0"/>
          </a:p>
        </p:txBody>
      </p:sp>
      <p:sp>
        <p:nvSpPr>
          <p:cNvPr id="22" name="Text 20"/>
          <p:cNvSpPr txBox="1"/>
          <p:nvPr/>
        </p:nvSpPr>
        <p:spPr>
          <a:xfrm>
            <a:off x="1133856" y="4654296"/>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WHERE сүзгілеу</a:t>
            </a:r>
            <a:endParaRPr lang="en-US" sz="1300" dirty="0"/>
          </a:p>
        </p:txBody>
      </p:sp>
      <p:sp>
        <p:nvSpPr>
          <p:cNvPr id="23" name="Shape 21"/>
          <p:cNvSpPr/>
          <p:nvPr/>
        </p:nvSpPr>
        <p:spPr>
          <a:xfrm>
            <a:off x="2926080" y="1325880"/>
            <a:ext cx="475488" cy="475488"/>
          </a:xfrm>
          <a:prstGeom prst="ellipse">
            <a:avLst/>
          </a:prstGeom>
          <a:solidFill>
            <a:srgbClr val="1F3A5F"/>
          </a:solidFill>
          <a:ln w="12700">
            <a:solidFill>
              <a:srgbClr val="1F3A5F"/>
            </a:solidFill>
            <a:prstDash val="solid"/>
          </a:ln>
        </p:spPr>
      </p:sp>
      <p:sp>
        <p:nvSpPr>
          <p:cNvPr id="24" name="Text 22"/>
          <p:cNvSpPr txBox="1"/>
          <p:nvPr/>
        </p:nvSpPr>
        <p:spPr>
          <a:xfrm>
            <a:off x="2926080" y="13258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07</a:t>
            </a:r>
            <a:endParaRPr lang="en-US" sz="1300" dirty="0"/>
          </a:p>
        </p:txBody>
      </p:sp>
      <p:sp>
        <p:nvSpPr>
          <p:cNvPr id="25" name="Text 23"/>
          <p:cNvSpPr txBox="1"/>
          <p:nvPr/>
        </p:nvSpPr>
        <p:spPr>
          <a:xfrm>
            <a:off x="3511296" y="1271016"/>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ORDER BY / GROUP BY</a:t>
            </a:r>
            <a:endParaRPr lang="en-US" sz="1300" dirty="0"/>
          </a:p>
        </p:txBody>
      </p:sp>
      <p:sp>
        <p:nvSpPr>
          <p:cNvPr id="26" name="Shape 24"/>
          <p:cNvSpPr/>
          <p:nvPr/>
        </p:nvSpPr>
        <p:spPr>
          <a:xfrm>
            <a:off x="2926080" y="2002536"/>
            <a:ext cx="475488" cy="475488"/>
          </a:xfrm>
          <a:prstGeom prst="ellipse">
            <a:avLst/>
          </a:prstGeom>
          <a:solidFill>
            <a:srgbClr val="1F3A5F"/>
          </a:solidFill>
          <a:ln w="12700">
            <a:solidFill>
              <a:srgbClr val="1F3A5F"/>
            </a:solidFill>
            <a:prstDash val="solid"/>
          </a:ln>
        </p:spPr>
      </p:sp>
      <p:sp>
        <p:nvSpPr>
          <p:cNvPr id="27" name="Text 25"/>
          <p:cNvSpPr txBox="1"/>
          <p:nvPr/>
        </p:nvSpPr>
        <p:spPr>
          <a:xfrm>
            <a:off x="2926080" y="200253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08</a:t>
            </a:r>
            <a:endParaRPr lang="en-US" sz="1300" dirty="0"/>
          </a:p>
        </p:txBody>
      </p:sp>
      <p:sp>
        <p:nvSpPr>
          <p:cNvPr id="28" name="Text 26"/>
          <p:cNvSpPr txBox="1"/>
          <p:nvPr/>
        </p:nvSpPr>
        <p:spPr>
          <a:xfrm>
            <a:off x="3511296" y="1947672"/>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JOIN</a:t>
            </a:r>
            <a:endParaRPr lang="en-US" sz="1300" dirty="0"/>
          </a:p>
        </p:txBody>
      </p:sp>
      <p:sp>
        <p:nvSpPr>
          <p:cNvPr id="29" name="Shape 27"/>
          <p:cNvSpPr/>
          <p:nvPr/>
        </p:nvSpPr>
        <p:spPr>
          <a:xfrm>
            <a:off x="2926080" y="2679192"/>
            <a:ext cx="475488" cy="475488"/>
          </a:xfrm>
          <a:prstGeom prst="ellipse">
            <a:avLst/>
          </a:prstGeom>
          <a:solidFill>
            <a:srgbClr val="1F3A5F"/>
          </a:solidFill>
          <a:ln w="12700">
            <a:solidFill>
              <a:srgbClr val="1F3A5F"/>
            </a:solidFill>
            <a:prstDash val="solid"/>
          </a:ln>
        </p:spPr>
      </p:sp>
      <p:sp>
        <p:nvSpPr>
          <p:cNvPr id="30" name="Text 28"/>
          <p:cNvSpPr txBox="1"/>
          <p:nvPr/>
        </p:nvSpPr>
        <p:spPr>
          <a:xfrm>
            <a:off x="2926080" y="26791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09</a:t>
            </a:r>
            <a:endParaRPr lang="en-US" sz="1300" dirty="0"/>
          </a:p>
        </p:txBody>
      </p:sp>
      <p:sp>
        <p:nvSpPr>
          <p:cNvPr id="31" name="Text 29"/>
          <p:cNvSpPr txBox="1"/>
          <p:nvPr/>
        </p:nvSpPr>
        <p:spPr>
          <a:xfrm>
            <a:off x="3511296" y="2624328"/>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Subquery / UNION</a:t>
            </a:r>
            <a:endParaRPr lang="en-US" sz="1300" dirty="0"/>
          </a:p>
        </p:txBody>
      </p:sp>
      <p:sp>
        <p:nvSpPr>
          <p:cNvPr id="32" name="Shape 30"/>
          <p:cNvSpPr/>
          <p:nvPr/>
        </p:nvSpPr>
        <p:spPr>
          <a:xfrm>
            <a:off x="2926080" y="3355848"/>
            <a:ext cx="475488" cy="475488"/>
          </a:xfrm>
          <a:prstGeom prst="ellipse">
            <a:avLst/>
          </a:prstGeom>
          <a:solidFill>
            <a:srgbClr val="2E6F6F"/>
          </a:solidFill>
          <a:ln w="12700">
            <a:solidFill>
              <a:srgbClr val="2E6F6F"/>
            </a:solidFill>
            <a:prstDash val="solid"/>
          </a:ln>
        </p:spPr>
      </p:sp>
      <p:sp>
        <p:nvSpPr>
          <p:cNvPr id="33" name="Text 31"/>
          <p:cNvSpPr txBox="1"/>
          <p:nvPr/>
        </p:nvSpPr>
        <p:spPr>
          <a:xfrm>
            <a:off x="2926080" y="335584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10</a:t>
            </a:r>
            <a:endParaRPr lang="en-US" sz="1300" dirty="0"/>
          </a:p>
        </p:txBody>
      </p:sp>
      <p:sp>
        <p:nvSpPr>
          <p:cNvPr id="34" name="Text 32"/>
          <p:cNvSpPr txBox="1"/>
          <p:nvPr/>
        </p:nvSpPr>
        <p:spPr>
          <a:xfrm>
            <a:off x="3511296" y="3300984"/>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VIEW / TRIGGER</a:t>
            </a:r>
            <a:endParaRPr lang="en-US" sz="1300" dirty="0"/>
          </a:p>
        </p:txBody>
      </p:sp>
      <p:sp>
        <p:nvSpPr>
          <p:cNvPr id="35" name="Shape 33"/>
          <p:cNvSpPr/>
          <p:nvPr/>
        </p:nvSpPr>
        <p:spPr>
          <a:xfrm>
            <a:off x="2926080" y="4032504"/>
            <a:ext cx="475488" cy="475488"/>
          </a:xfrm>
          <a:prstGeom prst="ellipse">
            <a:avLst/>
          </a:prstGeom>
          <a:solidFill>
            <a:srgbClr val="2E6F6F"/>
          </a:solidFill>
          <a:ln w="12700">
            <a:solidFill>
              <a:srgbClr val="2E6F6F"/>
            </a:solidFill>
            <a:prstDash val="solid"/>
          </a:ln>
        </p:spPr>
      </p:sp>
      <p:sp>
        <p:nvSpPr>
          <p:cNvPr id="36" name="Text 34"/>
          <p:cNvSpPr txBox="1"/>
          <p:nvPr/>
        </p:nvSpPr>
        <p:spPr>
          <a:xfrm>
            <a:off x="2926080" y="403250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11</a:t>
            </a:r>
            <a:endParaRPr lang="en-US" sz="1300" dirty="0"/>
          </a:p>
        </p:txBody>
      </p:sp>
      <p:sp>
        <p:nvSpPr>
          <p:cNvPr id="37" name="Text 35"/>
          <p:cNvSpPr txBox="1"/>
          <p:nvPr/>
        </p:nvSpPr>
        <p:spPr>
          <a:xfrm>
            <a:off x="3511296" y="3977640"/>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Транзакция / индекс</a:t>
            </a:r>
            <a:endParaRPr lang="en-US" sz="1300" dirty="0"/>
          </a:p>
        </p:txBody>
      </p:sp>
      <p:sp>
        <p:nvSpPr>
          <p:cNvPr id="38" name="Shape 36"/>
          <p:cNvSpPr/>
          <p:nvPr/>
        </p:nvSpPr>
        <p:spPr>
          <a:xfrm>
            <a:off x="2926080" y="4709160"/>
            <a:ext cx="475488" cy="475488"/>
          </a:xfrm>
          <a:prstGeom prst="ellipse">
            <a:avLst/>
          </a:prstGeom>
          <a:solidFill>
            <a:srgbClr val="2E6F6F"/>
          </a:solidFill>
          <a:ln w="12700">
            <a:solidFill>
              <a:srgbClr val="2E6F6F"/>
            </a:solidFill>
            <a:prstDash val="solid"/>
          </a:ln>
        </p:spPr>
      </p:sp>
      <p:sp>
        <p:nvSpPr>
          <p:cNvPr id="39" name="Text 37"/>
          <p:cNvSpPr txBox="1"/>
          <p:nvPr/>
        </p:nvSpPr>
        <p:spPr>
          <a:xfrm>
            <a:off x="2926080" y="470916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12</a:t>
            </a:r>
            <a:endParaRPr lang="en-US" sz="1300" dirty="0"/>
          </a:p>
        </p:txBody>
      </p:sp>
      <p:sp>
        <p:nvSpPr>
          <p:cNvPr id="40" name="Text 38"/>
          <p:cNvSpPr txBox="1"/>
          <p:nvPr/>
        </p:nvSpPr>
        <p:spPr>
          <a:xfrm>
            <a:off x="3511296" y="4654296"/>
            <a:ext cx="169164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ER-диаграмма</a:t>
            </a:r>
            <a:endParaRPr lang="en-US" sz="1300" dirty="0"/>
          </a:p>
        </p:txBody>
      </p:sp>
      <p:sp>
        <p:nvSpPr>
          <p:cNvPr id="41" name="Shape 39"/>
          <p:cNvSpPr/>
          <p:nvPr/>
        </p:nvSpPr>
        <p:spPr>
          <a:xfrm>
            <a:off x="548640" y="5486400"/>
            <a:ext cx="4617720" cy="713232"/>
          </a:xfrm>
          <a:prstGeom prst="roundRect">
            <a:avLst>
              <a:gd name="adj" fmla="val 10256"/>
            </a:avLst>
          </a:prstGeom>
          <a:solidFill>
            <a:srgbClr val="E6ECF4"/>
          </a:solidFill>
          <a:ln w="9525">
            <a:solidFill>
              <a:srgbClr val="C5D2E3"/>
            </a:solidFill>
            <a:prstDash val="solid"/>
          </a:ln>
        </p:spPr>
      </p:sp>
      <p:sp>
        <p:nvSpPr>
          <p:cNvPr id="42" name="Text 40"/>
          <p:cNvSpPr txBox="1"/>
          <p:nvPr/>
        </p:nvSpPr>
        <p:spPr>
          <a:xfrm>
            <a:off x="713232" y="5522976"/>
            <a:ext cx="434340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Әр скрипт жеке іске қосылады (Ctrl+Shift+F10); </a:t>
            </a:r>
            <a:pPr indent="0" marL="0">
              <a:buNone/>
            </a:pPr>
            <a:r>
              <a:rPr lang="en-US" sz="1250" b="1" dirty="0">
                <a:solidFill>
                  <a:srgbClr val="1F3A5F"/>
                </a:solidFill>
                <a:latin typeface="Consolas" pitchFamily="34" charset="0"/>
                <a:ea typeface="Consolas" pitchFamily="34" charset="-122"/>
                <a:cs typeface="Consolas" pitchFamily="34" charset="-120"/>
              </a:rPr>
              <a:t>run_all_steps.py</a:t>
            </a:r>
            <a:pPr indent="0" marL="0">
              <a:buNone/>
            </a:pPr>
            <a:r>
              <a:rPr lang="en-US" sz="1250" dirty="0">
                <a:solidFill>
                  <a:srgbClr val="1F2937"/>
                </a:solidFill>
                <a:latin typeface="Calibri" pitchFamily="34" charset="0"/>
                <a:ea typeface="Calibri" pitchFamily="34" charset="-122"/>
                <a:cs typeface="Calibri" pitchFamily="34" charset="-120"/>
              </a:rPr>
              <a:t> – барлығын қатарынан.</a:t>
            </a:r>
            <a:endParaRPr lang="en-US" sz="1250" dirty="0"/>
          </a:p>
        </p:txBody>
      </p:sp>
      <p:sp>
        <p:nvSpPr>
          <p:cNvPr id="43" name="Shape 41"/>
          <p:cNvSpPr/>
          <p:nvPr/>
        </p:nvSpPr>
        <p:spPr>
          <a:xfrm>
            <a:off x="5404104" y="1197864"/>
            <a:ext cx="6291072" cy="4243915"/>
          </a:xfrm>
          <a:prstGeom prst="rect">
            <a:avLst/>
          </a:prstGeom>
          <a:solidFill>
            <a:srgbClr val="FFFFFF"/>
          </a:solidFill>
          <a:ln w="9525">
            <a:solidFill>
              <a:srgbClr val="D5DBE3"/>
            </a:solidFill>
            <a:prstDash val="solid"/>
          </a:ln>
          <a:effectLst>
            <a:outerShdw sx="100000" sy="100000" kx="0" ky="0" algn="bl" rotWithShape="0" blurRad="101600" dist="25400" dir="5400000">
              <a:srgbClr val="000000">
                <a:alpha val="18000"/>
              </a:srgbClr>
            </a:outerShdw>
          </a:effectLst>
        </p:spPr>
      </p:sp>
      <p:pic>
        <p:nvPicPr>
          <p:cNvPr id="44" name="Image 0" descr="C:/Users/Administrator/k/Claude_EduDocs/figures/pycharm/pyc_step08.png">    </p:cNvPr>
          <p:cNvPicPr>
            <a:picLocks noChangeAspect="1"/>
          </p:cNvPicPr>
          <p:nvPr/>
        </p:nvPicPr>
        <p:blipFill>
          <a:blip r:embed="rId4"/>
          <a:srcRect/>
          <a:stretch>
            <a:fillRect/>
          </a:stretch>
        </p:blipFill>
        <p:spPr>
          <a:xfrm>
            <a:off x="5440680" y="1645517"/>
            <a:ext cx="6217920" cy="3348609"/>
          </a:xfrm>
          <a:prstGeom prst="rect">
            <a:avLst/>
          </a:prstGeom>
        </p:spPr>
      </p:pic>
      <p:sp>
        <p:nvSpPr>
          <p:cNvPr id="45" name="Text 42"/>
          <p:cNvSpPr txBox="1"/>
          <p:nvPr/>
        </p:nvSpPr>
        <p:spPr>
          <a:xfrm>
            <a:off x="5440680" y="5533219"/>
            <a:ext cx="621792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8-қадам, step08_join.py: сол жақта – код, оң жақта – Run терезесіндегі INNER / LEFT JOIN нәтижесі</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SQL сұратымдарының мысалдары</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1188720"/>
            <a:ext cx="3566160" cy="411480"/>
          </a:xfrm>
          <a:prstGeom prst="rect">
            <a:avLst/>
          </a:prstGeom>
          <a:noFill/>
          <a:ln/>
        </p:spPr>
        <p:txBody>
          <a:bodyPr wrap="square" lIns="0" tIns="0" rIns="0" bIns="0" rtlCol="0" anchor="ctr"/>
          <a:lstStyle/>
          <a:p>
            <a:pPr indent="0" marL="0">
              <a:buNone/>
            </a:pPr>
            <a:r>
              <a:rPr lang="en-US" sz="1800" b="1" dirty="0">
                <a:solidFill>
                  <a:srgbClr val="1F3A5F"/>
                </a:solidFill>
                <a:latin typeface="Cambria" pitchFamily="34" charset="0"/>
                <a:ea typeface="Cambria" pitchFamily="34" charset="-122"/>
                <a:cs typeface="Cambria" pitchFamily="34" charset="-120"/>
              </a:rPr>
              <a:t>«Көпке-көп» байланыс</a:t>
            </a:r>
            <a:endParaRPr lang="en-US" sz="1800" dirty="0"/>
          </a:p>
        </p:txBody>
      </p:sp>
      <p:sp>
        <p:nvSpPr>
          <p:cNvPr id="6" name="Text 4"/>
          <p:cNvSpPr txBox="1"/>
          <p:nvPr/>
        </p:nvSpPr>
        <p:spPr>
          <a:xfrm>
            <a:off x="548640" y="1600200"/>
            <a:ext cx="3566160" cy="320040"/>
          </a:xfrm>
          <a:prstGeom prst="rect">
            <a:avLst/>
          </a:prstGeom>
          <a:noFill/>
          <a:ln/>
        </p:spPr>
        <p:txBody>
          <a:bodyPr wrap="square" lIns="0" tIns="0" rIns="0" bIns="0" rtlCol="0" anchor="ctr"/>
          <a:lstStyle/>
          <a:p>
            <a:pPr indent="0" marL="0">
              <a:buNone/>
            </a:pPr>
            <a:r>
              <a:rPr lang="en-US" sz="1300" dirty="0">
                <a:solidFill>
                  <a:srgbClr val="9C2F2F"/>
                </a:solidFill>
                <a:latin typeface="Consolas" pitchFamily="34" charset="0"/>
                <a:ea typeface="Consolas" pitchFamily="34" charset="-122"/>
                <a:cs typeface="Consolas" pitchFamily="34" charset="-120"/>
              </a:rPr>
              <a:t>JOIN · document_students</a:t>
            </a:r>
            <a:endParaRPr lang="en-US" sz="1300" dirty="0"/>
          </a:p>
        </p:txBody>
      </p:sp>
      <p:sp>
        <p:nvSpPr>
          <p:cNvPr id="7" name="Shape 5"/>
          <p:cNvSpPr/>
          <p:nvPr/>
        </p:nvSpPr>
        <p:spPr>
          <a:xfrm>
            <a:off x="548640" y="2011680"/>
            <a:ext cx="3566160" cy="2834640"/>
          </a:xfrm>
          <a:prstGeom prst="rect">
            <a:avLst/>
          </a:prstGeom>
          <a:solidFill>
            <a:srgbClr val="F4F6F9"/>
          </a:solidFill>
          <a:ln w="9525">
            <a:solidFill>
              <a:srgbClr val="B8C2CF"/>
            </a:solidFill>
            <a:prstDash val="solid"/>
          </a:ln>
        </p:spPr>
      </p:sp>
      <p:sp>
        <p:nvSpPr>
          <p:cNvPr id="8" name="Text 6"/>
          <p:cNvSpPr txBox="1"/>
          <p:nvPr/>
        </p:nvSpPr>
        <p:spPr>
          <a:xfrm>
            <a:off x="658368" y="2084832"/>
            <a:ext cx="3346704" cy="2688336"/>
          </a:xfrm>
          <a:prstGeom prst="rect">
            <a:avLst/>
          </a:prstGeom>
          <a:noFill/>
          <a:ln/>
        </p:spPr>
        <p:txBody>
          <a:bodyPr wrap="square" lIns="0" tIns="0" rIns="0" bIns="0" rtlCol="0" anchor="t"/>
          <a:lstStyle/>
          <a:p>
            <a:pPr indent="0" marL="0">
              <a:buNone/>
            </a:pPr>
            <a:r>
              <a:rPr lang="en-US" sz="1200" dirty="0">
                <a:solidFill>
                  <a:srgbClr val="0B2545"/>
                </a:solidFill>
                <a:latin typeface="Consolas" pitchFamily="34" charset="0"/>
                <a:ea typeface="Consolas" pitchFamily="34" charset="-122"/>
                <a:cs typeface="Consolas" pitchFamily="34" charset="-120"/>
              </a:rPr>
              <a:t>SELECT s.full_name,</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d.reg_number, ds.note</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FROM students s</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JOIN document_students ds</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ON ds.student_id = s.id</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JOIN documents d</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ON d.id = ds.document_id</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WHERE s.record_book = '250101';</a:t>
            </a:r>
            <a:endParaRPr lang="en-US" sz="1200" dirty="0"/>
          </a:p>
        </p:txBody>
      </p:sp>
      <p:sp>
        <p:nvSpPr>
          <p:cNvPr id="9" name="Shape 7"/>
          <p:cNvSpPr/>
          <p:nvPr/>
        </p:nvSpPr>
        <p:spPr>
          <a:xfrm>
            <a:off x="548640" y="5120640"/>
            <a:ext cx="411480" cy="411480"/>
          </a:xfrm>
          <a:prstGeom prst="ellipse">
            <a:avLst/>
          </a:prstGeom>
          <a:solidFill>
            <a:srgbClr val="2E6F6F"/>
          </a:solidFill>
          <a:ln w="12700">
            <a:solidFill>
              <a:srgbClr val="2E6F6F"/>
            </a:solidFill>
            <a:prstDash val="solid"/>
          </a:ln>
        </p:spPr>
      </p:sp>
      <p:pic>
        <p:nvPicPr>
          <p:cNvPr id="10" name="Image 0" descr="C:\Users\Administrator\AppData\Local\Temp\claude\C--Users-Administrator\3bae1df8-6f55-4fee-a59f-2e7e3d58a40d\scratchpad\deck\icons\check_w.png">    </p:cNvPr>
          <p:cNvPicPr>
            <a:picLocks noChangeAspect="1"/>
          </p:cNvPicPr>
          <p:nvPr/>
        </p:nvPicPr>
        <p:blipFill>
          <a:blip r:embed="rId1"/>
          <a:stretch>
            <a:fillRect/>
          </a:stretch>
        </p:blipFill>
        <p:spPr>
          <a:xfrm>
            <a:off x="630936" y="5202936"/>
            <a:ext cx="246888" cy="246888"/>
          </a:xfrm>
          <a:prstGeom prst="rect">
            <a:avLst/>
          </a:prstGeom>
        </p:spPr>
      </p:pic>
      <p:sp>
        <p:nvSpPr>
          <p:cNvPr id="11" name="Text 8"/>
          <p:cNvSpPr txBox="1"/>
          <p:nvPr/>
        </p:nvSpPr>
        <p:spPr>
          <a:xfrm>
            <a:off x="1051560" y="5029200"/>
            <a:ext cx="3063240" cy="7315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Әбенова А.: БК-2025/001 (қабылдау), КЖ-2026/003 (автор)</a:t>
            </a:r>
            <a:endParaRPr lang="en-US" sz="1300" dirty="0"/>
          </a:p>
        </p:txBody>
      </p:sp>
      <p:sp>
        <p:nvSpPr>
          <p:cNvPr id="12" name="Text 9"/>
          <p:cNvSpPr txBox="1"/>
          <p:nvPr/>
        </p:nvSpPr>
        <p:spPr>
          <a:xfrm>
            <a:off x="4297680" y="1188720"/>
            <a:ext cx="3566160" cy="411480"/>
          </a:xfrm>
          <a:prstGeom prst="rect">
            <a:avLst/>
          </a:prstGeom>
          <a:noFill/>
          <a:ln/>
        </p:spPr>
        <p:txBody>
          <a:bodyPr wrap="square" lIns="0" tIns="0" rIns="0" bIns="0" rtlCol="0" anchor="ctr"/>
          <a:lstStyle/>
          <a:p>
            <a:pPr indent="0" marL="0">
              <a:buNone/>
            </a:pPr>
            <a:r>
              <a:rPr lang="en-US" sz="1800" b="1" dirty="0">
                <a:solidFill>
                  <a:srgbClr val="1F3A5F"/>
                </a:solidFill>
                <a:latin typeface="Cambria" pitchFamily="34" charset="0"/>
                <a:ea typeface="Cambria" pitchFamily="34" charset="-122"/>
                <a:cs typeface="Cambria" pitchFamily="34" charset="-120"/>
              </a:rPr>
              <a:t>Құжаты жоқ түрлер</a:t>
            </a:r>
            <a:endParaRPr lang="en-US" sz="1800" dirty="0"/>
          </a:p>
        </p:txBody>
      </p:sp>
      <p:sp>
        <p:nvSpPr>
          <p:cNvPr id="13" name="Text 10"/>
          <p:cNvSpPr txBox="1"/>
          <p:nvPr/>
        </p:nvSpPr>
        <p:spPr>
          <a:xfrm>
            <a:off x="4297680" y="1600200"/>
            <a:ext cx="3566160" cy="320040"/>
          </a:xfrm>
          <a:prstGeom prst="rect">
            <a:avLst/>
          </a:prstGeom>
          <a:noFill/>
          <a:ln/>
        </p:spPr>
        <p:txBody>
          <a:bodyPr wrap="square" lIns="0" tIns="0" rIns="0" bIns="0" rtlCol="0" anchor="ctr"/>
          <a:lstStyle/>
          <a:p>
            <a:pPr indent="0" marL="0">
              <a:buNone/>
            </a:pPr>
            <a:r>
              <a:rPr lang="en-US" sz="1300" dirty="0">
                <a:solidFill>
                  <a:srgbClr val="9C2F2F"/>
                </a:solidFill>
                <a:latin typeface="Consolas" pitchFamily="34" charset="0"/>
                <a:ea typeface="Consolas" pitchFamily="34" charset="-122"/>
                <a:cs typeface="Consolas" pitchFamily="34" charset="-120"/>
              </a:rPr>
              <a:t>NOT EXISTS</a:t>
            </a:r>
            <a:endParaRPr lang="en-US" sz="1300" dirty="0"/>
          </a:p>
        </p:txBody>
      </p:sp>
      <p:sp>
        <p:nvSpPr>
          <p:cNvPr id="14" name="Shape 11"/>
          <p:cNvSpPr/>
          <p:nvPr/>
        </p:nvSpPr>
        <p:spPr>
          <a:xfrm>
            <a:off x="4297680" y="2011680"/>
            <a:ext cx="3566160" cy="2834640"/>
          </a:xfrm>
          <a:prstGeom prst="rect">
            <a:avLst/>
          </a:prstGeom>
          <a:solidFill>
            <a:srgbClr val="F4F6F9"/>
          </a:solidFill>
          <a:ln w="9525">
            <a:solidFill>
              <a:srgbClr val="B8C2CF"/>
            </a:solidFill>
            <a:prstDash val="solid"/>
          </a:ln>
        </p:spPr>
      </p:sp>
      <p:sp>
        <p:nvSpPr>
          <p:cNvPr id="15" name="Text 12"/>
          <p:cNvSpPr txBox="1"/>
          <p:nvPr/>
        </p:nvSpPr>
        <p:spPr>
          <a:xfrm>
            <a:off x="4407408" y="2084832"/>
            <a:ext cx="3346704" cy="2688336"/>
          </a:xfrm>
          <a:prstGeom prst="rect">
            <a:avLst/>
          </a:prstGeom>
          <a:noFill/>
          <a:ln/>
        </p:spPr>
        <p:txBody>
          <a:bodyPr wrap="square" lIns="0" tIns="0" rIns="0" bIns="0" rtlCol="0" anchor="t"/>
          <a:lstStyle/>
          <a:p>
            <a:pPr indent="0" marL="0">
              <a:buNone/>
            </a:pPr>
            <a:r>
              <a:rPr lang="en-US" sz="1200" dirty="0">
                <a:solidFill>
                  <a:srgbClr val="0B2545"/>
                </a:solidFill>
                <a:latin typeface="Consolas" pitchFamily="34" charset="0"/>
                <a:ea typeface="Consolas" pitchFamily="34" charset="-122"/>
                <a:cs typeface="Consolas" pitchFamily="34" charset="-120"/>
              </a:rPr>
              <a:t>SELECT t.code, t.name</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FROM document_types t</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WHERE NOT EXISTS (</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SELECT 1 FROM documents d</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WHERE d.type_id = t.id</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AND d.academic_year</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 '2026-2027');</a:t>
            </a:r>
            <a:endParaRPr lang="en-US" sz="1200" dirty="0"/>
          </a:p>
        </p:txBody>
      </p:sp>
      <p:sp>
        <p:nvSpPr>
          <p:cNvPr id="16" name="Shape 13"/>
          <p:cNvSpPr/>
          <p:nvPr/>
        </p:nvSpPr>
        <p:spPr>
          <a:xfrm>
            <a:off x="4297680" y="5120640"/>
            <a:ext cx="411480" cy="411480"/>
          </a:xfrm>
          <a:prstGeom prst="ellipse">
            <a:avLst/>
          </a:prstGeom>
          <a:solidFill>
            <a:srgbClr val="2E6F6F"/>
          </a:solidFill>
          <a:ln w="12700">
            <a:solidFill>
              <a:srgbClr val="2E6F6F"/>
            </a:solidFill>
            <a:prstDash val="solid"/>
          </a:ln>
        </p:spPr>
      </p:sp>
      <p:pic>
        <p:nvPicPr>
          <p:cNvPr id="17" name="Image 1" descr="C:\Users\Administrator\AppData\Local\Temp\claude\C--Users-Administrator\3bae1df8-6f55-4fee-a59f-2e7e3d58a40d\scratchpad\deck\icons\check_w.png">    </p:cNvPr>
          <p:cNvPicPr>
            <a:picLocks noChangeAspect="1"/>
          </p:cNvPicPr>
          <p:nvPr/>
        </p:nvPicPr>
        <p:blipFill>
          <a:blip r:embed="rId2"/>
          <a:stretch>
            <a:fillRect/>
          </a:stretch>
        </p:blipFill>
        <p:spPr>
          <a:xfrm>
            <a:off x="4379976" y="5202936"/>
            <a:ext cx="246888" cy="246888"/>
          </a:xfrm>
          <a:prstGeom prst="rect">
            <a:avLst/>
          </a:prstGeom>
        </p:spPr>
      </p:pic>
      <p:sp>
        <p:nvSpPr>
          <p:cNvPr id="18" name="Text 14"/>
          <p:cNvSpPr txBox="1"/>
          <p:nvPr/>
        </p:nvSpPr>
        <p:spPr>
          <a:xfrm>
            <a:off x="4800600" y="5029200"/>
            <a:ext cx="3063240" cy="7315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Нәтиже: ВЕД – 2026–2027 жылы ведомость әлі тіркелмеген</a:t>
            </a:r>
            <a:endParaRPr lang="en-US" sz="1300" dirty="0"/>
          </a:p>
        </p:txBody>
      </p:sp>
      <p:sp>
        <p:nvSpPr>
          <p:cNvPr id="19" name="Text 15"/>
          <p:cNvSpPr txBox="1"/>
          <p:nvPr/>
        </p:nvSpPr>
        <p:spPr>
          <a:xfrm>
            <a:off x="8046720" y="1188720"/>
            <a:ext cx="3566160" cy="411480"/>
          </a:xfrm>
          <a:prstGeom prst="rect">
            <a:avLst/>
          </a:prstGeom>
          <a:noFill/>
          <a:ln/>
        </p:spPr>
        <p:txBody>
          <a:bodyPr wrap="square" lIns="0" tIns="0" rIns="0" bIns="0" rtlCol="0" anchor="ctr"/>
          <a:lstStyle/>
          <a:p>
            <a:pPr indent="0" marL="0">
              <a:buNone/>
            </a:pPr>
            <a:r>
              <a:rPr lang="en-US" sz="1800" b="1" dirty="0">
                <a:solidFill>
                  <a:srgbClr val="1F3A5F"/>
                </a:solidFill>
                <a:latin typeface="Cambria" pitchFamily="34" charset="0"/>
                <a:ea typeface="Cambria" pitchFamily="34" charset="-122"/>
                <a:cs typeface="Cambria" pitchFamily="34" charset="-120"/>
              </a:rPr>
              <a:t>Бөлімшелердің жүктемесі</a:t>
            </a:r>
            <a:endParaRPr lang="en-US" sz="1800" dirty="0"/>
          </a:p>
        </p:txBody>
      </p:sp>
      <p:sp>
        <p:nvSpPr>
          <p:cNvPr id="20" name="Text 16"/>
          <p:cNvSpPr txBox="1"/>
          <p:nvPr/>
        </p:nvSpPr>
        <p:spPr>
          <a:xfrm>
            <a:off x="8046720" y="1600200"/>
            <a:ext cx="3566160" cy="320040"/>
          </a:xfrm>
          <a:prstGeom prst="rect">
            <a:avLst/>
          </a:prstGeom>
          <a:noFill/>
          <a:ln/>
        </p:spPr>
        <p:txBody>
          <a:bodyPr wrap="square" lIns="0" tIns="0" rIns="0" bIns="0" rtlCol="0" anchor="ctr"/>
          <a:lstStyle/>
          <a:p>
            <a:pPr indent="0" marL="0">
              <a:buNone/>
            </a:pPr>
            <a:r>
              <a:rPr lang="en-US" sz="1300" dirty="0">
                <a:solidFill>
                  <a:srgbClr val="9C2F2F"/>
                </a:solidFill>
                <a:latin typeface="Consolas" pitchFamily="34" charset="0"/>
                <a:ea typeface="Consolas" pitchFamily="34" charset="-122"/>
                <a:cs typeface="Consolas" pitchFamily="34" charset="-120"/>
              </a:rPr>
              <a:t>JOIN + GROUP BY + HAVING</a:t>
            </a:r>
            <a:endParaRPr lang="en-US" sz="1300" dirty="0"/>
          </a:p>
        </p:txBody>
      </p:sp>
      <p:sp>
        <p:nvSpPr>
          <p:cNvPr id="21" name="Shape 17"/>
          <p:cNvSpPr/>
          <p:nvPr/>
        </p:nvSpPr>
        <p:spPr>
          <a:xfrm>
            <a:off x="8046720" y="2011680"/>
            <a:ext cx="3566160" cy="2834640"/>
          </a:xfrm>
          <a:prstGeom prst="rect">
            <a:avLst/>
          </a:prstGeom>
          <a:solidFill>
            <a:srgbClr val="F4F6F9"/>
          </a:solidFill>
          <a:ln w="9525">
            <a:solidFill>
              <a:srgbClr val="B8C2CF"/>
            </a:solidFill>
            <a:prstDash val="solid"/>
          </a:ln>
        </p:spPr>
      </p:sp>
      <p:sp>
        <p:nvSpPr>
          <p:cNvPr id="22" name="Text 18"/>
          <p:cNvSpPr txBox="1"/>
          <p:nvPr/>
        </p:nvSpPr>
        <p:spPr>
          <a:xfrm>
            <a:off x="8156448" y="2084832"/>
            <a:ext cx="3346704" cy="2688336"/>
          </a:xfrm>
          <a:prstGeom prst="rect">
            <a:avLst/>
          </a:prstGeom>
          <a:noFill/>
          <a:ln/>
        </p:spPr>
        <p:txBody>
          <a:bodyPr wrap="square" lIns="0" tIns="0" rIns="0" bIns="0" rtlCol="0" anchor="t"/>
          <a:lstStyle/>
          <a:p>
            <a:pPr indent="0" marL="0">
              <a:buNone/>
            </a:pPr>
            <a:r>
              <a:rPr lang="en-US" sz="1200" dirty="0">
                <a:solidFill>
                  <a:srgbClr val="0B2545"/>
                </a:solidFill>
                <a:latin typeface="Consolas" pitchFamily="34" charset="0"/>
                <a:ea typeface="Consolas" pitchFamily="34" charset="-122"/>
                <a:cs typeface="Consolas" pitchFamily="34" charset="-120"/>
              </a:rPr>
              <a:t>SELECT dep.short_name,</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COUNT(*) AS құжат</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FROM documents d</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JOIN departments dep</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ON dep.id = d.department_id</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GROUP BY dep.id</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HAVING COUNT(*) &gt; 5</a:t>
            </a:r>
            <a:endParaRPr lang="en-US" sz="1200" dirty="0"/>
          </a:p>
          <a:p>
            <a:pPr indent="0" marL="0">
              <a:buNone/>
            </a:pPr>
            <a:r>
              <a:rPr lang="en-US" sz="1200" dirty="0">
                <a:solidFill>
                  <a:srgbClr val="0B2545"/>
                </a:solidFill>
                <a:latin typeface="Consolas" pitchFamily="34" charset="0"/>
                <a:ea typeface="Consolas" pitchFamily="34" charset="-122"/>
                <a:cs typeface="Consolas" pitchFamily="34" charset="-120"/>
              </a:rPr>
              <a:t> ORDER BY құжат DESC;</a:t>
            </a:r>
            <a:endParaRPr lang="en-US" sz="1200" dirty="0"/>
          </a:p>
        </p:txBody>
      </p:sp>
      <p:sp>
        <p:nvSpPr>
          <p:cNvPr id="23" name="Shape 19"/>
          <p:cNvSpPr/>
          <p:nvPr/>
        </p:nvSpPr>
        <p:spPr>
          <a:xfrm>
            <a:off x="8046720" y="5120640"/>
            <a:ext cx="411480" cy="411480"/>
          </a:xfrm>
          <a:prstGeom prst="ellipse">
            <a:avLst/>
          </a:prstGeom>
          <a:solidFill>
            <a:srgbClr val="2E6F6F"/>
          </a:solidFill>
          <a:ln w="12700">
            <a:solidFill>
              <a:srgbClr val="2E6F6F"/>
            </a:solidFill>
            <a:prstDash val="solid"/>
          </a:ln>
        </p:spPr>
      </p:sp>
      <p:pic>
        <p:nvPicPr>
          <p:cNvPr id="24" name="Image 2" descr="C:\Users\Administrator\AppData\Local\Temp\claude\C--Users-Administrator\3bae1df8-6f55-4fee-a59f-2e7e3d58a40d\scratchpad\deck\icons\check_w.png">    </p:cNvPr>
          <p:cNvPicPr>
            <a:picLocks noChangeAspect="1"/>
          </p:cNvPicPr>
          <p:nvPr/>
        </p:nvPicPr>
        <p:blipFill>
          <a:blip r:embed="rId3"/>
          <a:stretch>
            <a:fillRect/>
          </a:stretch>
        </p:blipFill>
        <p:spPr>
          <a:xfrm>
            <a:off x="8129016" y="5202936"/>
            <a:ext cx="246888" cy="246888"/>
          </a:xfrm>
          <a:prstGeom prst="rect">
            <a:avLst/>
          </a:prstGeom>
        </p:spPr>
      </p:pic>
      <p:sp>
        <p:nvSpPr>
          <p:cNvPr id="25" name="Text 20"/>
          <p:cNvSpPr txBox="1"/>
          <p:nvPr/>
        </p:nvSpPr>
        <p:spPr>
          <a:xfrm>
            <a:off x="8549640" y="5029200"/>
            <a:ext cx="3063240" cy="7315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ЖИТ кафедрасы – 19, тіркеу офисі – 8</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EduDocs веб-қосымшасы</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12064" y="1152144"/>
            <a:ext cx="7571232" cy="4901118"/>
          </a:xfrm>
          <a:prstGeom prst="rect">
            <a:avLst/>
          </a:prstGeom>
          <a:solidFill>
            <a:srgbClr val="FFFFFF"/>
          </a:solidFill>
          <a:ln w="9525">
            <a:solidFill>
              <a:srgbClr val="D5DBE3"/>
            </a:solidFill>
            <a:prstDash val="solid"/>
          </a:ln>
          <a:effectLst>
            <a:outerShdw sx="100000" sy="100000" kx="0" ky="0" algn="bl" rotWithShape="0" blurRad="101600" dist="25400" dir="5400000">
              <a:srgbClr val="000000">
                <a:alpha val="18000"/>
              </a:srgbClr>
            </a:outerShdw>
          </a:effectLst>
        </p:spPr>
        <p:txBody>
          <a:bodyPr/>
          <a:p/>
        </p:txBody>
      </p:sp>
      <p:pic>
        <p:nvPicPr>
          <p:cNvPr id="6" name="Image 0" descr="C:/Users/Administrator/k/Claude_EduDocs/figures/gui/01_dashboard.png">    </p:cNvPr>
          <p:cNvPicPr>
            <a:picLocks noChangeAspect="1"/>
          </p:cNvPicPr>
          <p:nvPr/>
        </p:nvPicPr>
        <p:blipFill>
          <a:blip r:embed="rId11"/>
          <a:srcRect l="1467" r="1467"/>
          <a:stretch>
            <a:fillRect/>
          </a:stretch>
        </p:blipFill>
        <p:spPr>
          <a:xfrm>
            <a:off x="548640" y="1188720"/>
            <a:ext cx="7498080" cy="4827966"/>
          </a:xfrm>
          <a:prstGeom prst="rect">
            <a:avLst/>
          </a:prstGeom>
        </p:spPr>
      </p:pic>
      <p:sp>
        <p:nvSpPr>
          <p:cNvPr id="7" name="Shape 4"/>
          <p:cNvSpPr/>
          <p:nvPr/>
        </p:nvSpPr>
        <p:spPr>
          <a:xfrm>
            <a:off x="8412480" y="1234440"/>
            <a:ext cx="502920" cy="502920"/>
          </a:xfrm>
          <a:prstGeom prst="ellipse">
            <a:avLst/>
          </a:prstGeom>
          <a:solidFill>
            <a:srgbClr val="1F3A5F"/>
          </a:solidFill>
          <a:ln w="12700">
            <a:solidFill>
              <a:srgbClr val="1F3A5F"/>
            </a:solidFill>
            <a:prstDash val="solid"/>
          </a:ln>
        </p:spPr>
        <p:txBody>
          <a:bodyPr/>
          <a:p/>
        </p:txBody>
      </p:sp>
      <p:pic>
        <p:nvPicPr>
          <p:cNvPr id="8" name="Image 1" descr="C:\Users\Administrator\AppData\Local\Temp\claude\C--Users-Administrator\3bae1df8-6f55-4fee-a59f-2e7e3d58a40d\scratchpad\deck\icons\doc_w.png">    </p:cNvPr>
          <p:cNvPicPr>
            <a:picLocks noChangeAspect="1"/>
          </p:cNvPicPr>
          <p:nvPr/>
        </p:nvPicPr>
        <p:blipFill>
          <a:blip r:embed="rId2"/>
          <a:stretch>
            <a:fillRect/>
          </a:stretch>
        </p:blipFill>
        <p:spPr>
          <a:xfrm>
            <a:off x="8513064" y="1335024"/>
            <a:ext cx="301752" cy="301752"/>
          </a:xfrm>
          <a:prstGeom prst="rect">
            <a:avLst/>
          </a:prstGeom>
        </p:spPr>
      </p:pic>
      <p:sp>
        <p:nvSpPr>
          <p:cNvPr id="9" name="Text 5"/>
          <p:cNvSpPr txBox="1"/>
          <p:nvPr/>
        </p:nvSpPr>
        <p:spPr>
          <a:xfrm>
            <a:off x="9052560" y="1143000"/>
            <a:ext cx="2606040" cy="6858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Тізілім: іздеу, сүзгі, баған бойынша сұрыптау</a:t>
            </a:r>
            <a:endParaRPr lang="en-US" sz="1400" dirty="0"/>
          </a:p>
        </p:txBody>
      </p:sp>
      <p:sp>
        <p:nvSpPr>
          <p:cNvPr id="10" name="Shape 6"/>
          <p:cNvSpPr/>
          <p:nvPr/>
        </p:nvSpPr>
        <p:spPr>
          <a:xfrm>
            <a:off x="8412480" y="2020824"/>
            <a:ext cx="502920" cy="502920"/>
          </a:xfrm>
          <a:prstGeom prst="ellipse">
            <a:avLst/>
          </a:prstGeom>
          <a:solidFill>
            <a:srgbClr val="2E6F6F"/>
          </a:solidFill>
          <a:ln w="12700">
            <a:solidFill>
              <a:srgbClr val="2E6F6F"/>
            </a:solidFill>
            <a:prstDash val="solid"/>
          </a:ln>
        </p:spPr>
        <p:txBody>
          <a:bodyPr/>
          <a:p/>
        </p:txBody>
      </p:sp>
      <p:pic>
        <p:nvPicPr>
          <p:cNvPr id="11" name="Image 2" descr="C:\Users\Administrator\AppData\Local\Temp\claude\C--Users-Administrator\3bae1df8-6f55-4fee-a59f-2e7e3d58a40d\scratchpad\deck\icons\person_w.png">    </p:cNvPr>
          <p:cNvPicPr>
            <a:picLocks noChangeAspect="1"/>
          </p:cNvPicPr>
          <p:nvPr/>
        </p:nvPicPr>
        <p:blipFill>
          <a:blip r:embed="rId3"/>
          <a:stretch>
            <a:fillRect/>
          </a:stretch>
        </p:blipFill>
        <p:spPr>
          <a:xfrm>
            <a:off x="8513064" y="2121408"/>
            <a:ext cx="301752" cy="301752"/>
          </a:xfrm>
          <a:prstGeom prst="rect">
            <a:avLst/>
          </a:prstGeom>
        </p:spPr>
      </p:pic>
      <p:sp>
        <p:nvSpPr>
          <p:cNvPr id="12" name="Text 7"/>
          <p:cNvSpPr txBox="1"/>
          <p:nvPr/>
        </p:nvSpPr>
        <p:spPr>
          <a:xfrm>
            <a:off x="9052560" y="1929384"/>
            <a:ext cx="2606040" cy="6858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Білім алушыға қатысты құжаттар (M:N)</a:t>
            </a:r>
            <a:endParaRPr lang="en-US" sz="1400" dirty="0"/>
          </a:p>
        </p:txBody>
      </p:sp>
      <p:sp>
        <p:nvSpPr>
          <p:cNvPr id="13" name="Shape 8"/>
          <p:cNvSpPr/>
          <p:nvPr/>
        </p:nvSpPr>
        <p:spPr>
          <a:xfrm>
            <a:off x="8412480" y="2807208"/>
            <a:ext cx="502920" cy="502920"/>
          </a:xfrm>
          <a:prstGeom prst="ellipse">
            <a:avLst/>
          </a:prstGeom>
          <a:solidFill>
            <a:srgbClr val="1F3A5F"/>
          </a:solidFill>
          <a:ln w="12700">
            <a:solidFill>
              <a:srgbClr val="1F3A5F"/>
            </a:solidFill>
            <a:prstDash val="solid"/>
          </a:ln>
        </p:spPr>
        <p:txBody>
          <a:bodyPr/>
          <a:p/>
        </p:txBody>
      </p:sp>
      <p:pic>
        <p:nvPicPr>
          <p:cNvPr id="14" name="Image 3" descr="C:\Users\Administrator\AppData\Local\Temp\claude\C--Users-Administrator\3bae1df8-6f55-4fee-a59f-2e7e3d58a40d\scratchpad\deck\icons\report_w.png">    </p:cNvPr>
          <p:cNvPicPr>
            <a:picLocks noChangeAspect="1"/>
          </p:cNvPicPr>
          <p:nvPr/>
        </p:nvPicPr>
        <p:blipFill>
          <a:blip r:embed="rId4"/>
          <a:stretch>
            <a:fillRect/>
          </a:stretch>
        </p:blipFill>
        <p:spPr>
          <a:xfrm>
            <a:off x="8513064" y="2907792"/>
            <a:ext cx="301752" cy="301752"/>
          </a:xfrm>
          <a:prstGeom prst="rect">
            <a:avLst/>
          </a:prstGeom>
        </p:spPr>
      </p:pic>
      <p:sp>
        <p:nvSpPr>
          <p:cNvPr id="15" name="Text 9"/>
          <p:cNvSpPr txBox="1"/>
          <p:nvPr/>
        </p:nvSpPr>
        <p:spPr>
          <a:xfrm>
            <a:off x="9052560" y="2715768"/>
            <a:ext cx="2606040" cy="6858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Басты бет: мәртебелер мен диаграммалар</a:t>
            </a:r>
            <a:endParaRPr lang="en-US" sz="1400" dirty="0"/>
          </a:p>
        </p:txBody>
      </p:sp>
      <p:sp>
        <p:nvSpPr>
          <p:cNvPr id="16" name="Shape 10"/>
          <p:cNvSpPr/>
          <p:nvPr/>
        </p:nvSpPr>
        <p:spPr>
          <a:xfrm>
            <a:off x="8412480" y="3593592"/>
            <a:ext cx="502920" cy="502920"/>
          </a:xfrm>
          <a:prstGeom prst="ellipse">
            <a:avLst/>
          </a:prstGeom>
          <a:solidFill>
            <a:srgbClr val="2E6F6F"/>
          </a:solidFill>
          <a:ln w="12700">
            <a:solidFill>
              <a:srgbClr val="2E6F6F"/>
            </a:solidFill>
            <a:prstDash val="solid"/>
          </a:ln>
        </p:spPr>
        <p:txBody>
          <a:bodyPr/>
          <a:p/>
        </p:txBody>
      </p:sp>
      <p:pic>
        <p:nvPicPr>
          <p:cNvPr id="17" name="Image 4" descr="C:\Users\Administrator\AppData\Local\Temp\claude\C--Users-Administrator\3bae1df8-6f55-4fee-a59f-2e7e3d58a40d\scratchpad\deck\icons\code_w.png">    </p:cNvPr>
          <p:cNvPicPr>
            <a:picLocks noChangeAspect="1"/>
          </p:cNvPicPr>
          <p:nvPr/>
        </p:nvPicPr>
        <p:blipFill>
          <a:blip r:embed="rId5"/>
          <a:stretch>
            <a:fillRect/>
          </a:stretch>
        </p:blipFill>
        <p:spPr>
          <a:xfrm>
            <a:off x="8513064" y="3694176"/>
            <a:ext cx="301752" cy="301752"/>
          </a:xfrm>
          <a:prstGeom prst="rect">
            <a:avLst/>
          </a:prstGeom>
        </p:spPr>
      </p:pic>
      <p:sp>
        <p:nvSpPr>
          <p:cNvPr id="18" name="Text 11"/>
          <p:cNvSpPr txBox="1"/>
          <p:nvPr/>
        </p:nvSpPr>
        <p:spPr>
          <a:xfrm>
            <a:off x="9052560" y="3502152"/>
            <a:ext cx="2606040" cy="6858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8 дайын SQL есеп (тек оқу режимі)</a:t>
            </a:r>
            <a:endParaRPr lang="en-US" sz="1400" dirty="0"/>
          </a:p>
        </p:txBody>
      </p:sp>
      <p:sp>
        <p:nvSpPr>
          <p:cNvPr id="19" name="Shape 12"/>
          <p:cNvSpPr/>
          <p:nvPr/>
        </p:nvSpPr>
        <p:spPr>
          <a:xfrm>
            <a:off x="8412480" y="4379976"/>
            <a:ext cx="502920" cy="502920"/>
          </a:xfrm>
          <a:prstGeom prst="ellipse">
            <a:avLst/>
          </a:prstGeom>
          <a:solidFill>
            <a:srgbClr val="1F3A5F"/>
          </a:solidFill>
          <a:ln w="12700">
            <a:solidFill>
              <a:srgbClr val="1F3A5F"/>
            </a:solidFill>
            <a:prstDash val="solid"/>
          </a:ln>
        </p:spPr>
        <p:txBody>
          <a:bodyPr/>
          <a:p/>
        </p:txBody>
      </p:sp>
      <p:pic>
        <p:nvPicPr>
          <p:cNvPr id="20" name="Image 5" descr="C:\Users\Administrator\AppData\Local\Temp\claude\C--Users-Administrator\3bae1df8-6f55-4fee-a59f-2e7e3d58a40d\scratchpad\deck\icons\history_w.png">    </p:cNvPr>
          <p:cNvPicPr>
            <a:picLocks noChangeAspect="1"/>
          </p:cNvPicPr>
          <p:nvPr/>
        </p:nvPicPr>
        <p:blipFill>
          <a:blip r:embed="rId6"/>
          <a:stretch>
            <a:fillRect/>
          </a:stretch>
        </p:blipFill>
        <p:spPr>
          <a:xfrm>
            <a:off x="8513064" y="4480560"/>
            <a:ext cx="301752" cy="301752"/>
          </a:xfrm>
          <a:prstGeom prst="rect">
            <a:avLst/>
          </a:prstGeom>
        </p:spPr>
      </p:pic>
      <p:sp>
        <p:nvSpPr>
          <p:cNvPr id="21" name="Text 13"/>
          <p:cNvSpPr txBox="1"/>
          <p:nvPr/>
        </p:nvSpPr>
        <p:spPr>
          <a:xfrm>
            <a:off x="9052560" y="4288536"/>
            <a:ext cx="2606040" cy="6858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Жаңа құжат: тіркеу нөмірі автоматты</a:t>
            </a:r>
            <a:endParaRPr lang="en-US" sz="1400" dirty="0"/>
          </a:p>
        </p:txBody>
      </p:sp>
      <p:sp>
        <p:nvSpPr>
          <p:cNvPr id="22" name="Shape 14"/>
          <p:cNvSpPr/>
          <p:nvPr/>
        </p:nvSpPr>
        <p:spPr>
          <a:xfrm>
            <a:off x="8412480" y="5166360"/>
            <a:ext cx="502920" cy="502920"/>
          </a:xfrm>
          <a:prstGeom prst="ellipse">
            <a:avLst/>
          </a:prstGeom>
          <a:solidFill>
            <a:srgbClr val="2E6F6F"/>
          </a:solidFill>
          <a:ln w="12700">
            <a:solidFill>
              <a:srgbClr val="2E6F6F"/>
            </a:solidFill>
            <a:prstDash val="solid"/>
          </a:ln>
        </p:spPr>
        <p:txBody>
          <a:bodyPr/>
          <a:p/>
        </p:txBody>
      </p:sp>
      <p:pic>
        <p:nvPicPr>
          <p:cNvPr id="23" name="Image 6" descr="C:\Users\Administrator\AppData\Local\Temp\claude\C--Users-Administrator\3bae1df8-6f55-4fee-a59f-2e7e3d58a40d\scratchpad\deck\icons\save_w.png">    </p:cNvPr>
          <p:cNvPicPr>
            <a:picLocks noChangeAspect="1"/>
          </p:cNvPicPr>
          <p:nvPr/>
        </p:nvPicPr>
        <p:blipFill>
          <a:blip r:embed="rId7"/>
          <a:stretch>
            <a:fillRect/>
          </a:stretch>
        </p:blipFill>
        <p:spPr>
          <a:xfrm>
            <a:off x="8513064" y="5266944"/>
            <a:ext cx="301752" cy="301752"/>
          </a:xfrm>
          <a:prstGeom prst="rect">
            <a:avLst/>
          </a:prstGeom>
        </p:spPr>
      </p:pic>
      <p:sp>
        <p:nvSpPr>
          <p:cNvPr id="24" name="Text 15"/>
          <p:cNvSpPr txBox="1"/>
          <p:nvPr/>
        </p:nvSpPr>
        <p:spPr>
          <a:xfrm>
            <a:off x="9052560" y="5074920"/>
            <a:ext cx="2606040" cy="6858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Кіру: әкімші және қонақ рөлдері</a:t>
            </a:r>
            <a:endParaRPr lang="en-US" sz="1400" dirty="0"/>
          </a:p>
        </p:txBody>
      </p:sp>
      <p:sp>
        <p:nvSpPr>
          <p:cNvPr id="25" name="Text 16"/>
          <p:cNvSpPr txBox="1"/>
          <p:nvPr/>
        </p:nvSpPr>
        <p:spPr>
          <a:xfrm>
            <a:off x="8412480" y="5989320"/>
            <a:ext cx="324612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http.server + sqlite3: тек Python-ның стандартты кітапханасы</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Жүйеге кіру және рөлдер</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12064" y="1197864"/>
            <a:ext cx="6565392" cy="4253464"/>
          </a:xfrm>
          <a:prstGeom prst="rect">
            <a:avLst/>
          </a:prstGeom>
          <a:solidFill>
            <a:srgbClr val="FFFFFF"/>
          </a:solidFill>
          <a:ln w="9525">
            <a:solidFill>
              <a:srgbClr val="D5DBE3"/>
            </a:solidFill>
            <a:prstDash val="solid"/>
          </a:ln>
          <a:effectLst>
            <a:outerShdw sx="100000" sy="100000" kx="0" ky="0" algn="bl" rotWithShape="0" blurRad="101600" dist="25400" dir="5400000">
              <a:srgbClr val="000000">
                <a:alpha val="18000"/>
              </a:srgbClr>
            </a:outerShdw>
          </a:effectLst>
        </p:spPr>
        <p:txBody>
          <a:bodyPr/>
          <a:p/>
        </p:txBody>
      </p:sp>
      <p:pic>
        <p:nvPicPr>
          <p:cNvPr id="6" name="Image 0" descr="C:/Users/Administrator/k/Claude_EduDocs/figures/gui/03_registry_filtered.png">    </p:cNvPr>
          <p:cNvPicPr>
            <a:picLocks noChangeAspect="1"/>
          </p:cNvPicPr>
          <p:nvPr/>
        </p:nvPicPr>
        <p:blipFill>
          <a:blip r:embed="rId8"/>
          <a:srcRect l="1467" r="1467"/>
          <a:stretch>
            <a:fillRect/>
          </a:stretch>
        </p:blipFill>
        <p:spPr>
          <a:xfrm>
            <a:off x="548640" y="1234440"/>
            <a:ext cx="6492240" cy="4180312"/>
          </a:xfrm>
          <a:prstGeom prst="rect">
            <a:avLst/>
          </a:prstGeom>
        </p:spPr>
      </p:pic>
      <p:sp>
        <p:nvSpPr>
          <p:cNvPr id="7" name="Shape 4"/>
          <p:cNvSpPr/>
          <p:nvPr/>
        </p:nvSpPr>
        <p:spPr>
          <a:xfrm>
            <a:off x="7521193" y="1198440"/>
            <a:ext cx="4022853" cy="3659481"/>
          </a:xfrm>
          <a:prstGeom prst="rect">
            <a:avLst/>
          </a:prstGeom>
          <a:solidFill>
            <a:srgbClr val="FFFFFF"/>
          </a:solidFill>
          <a:ln w="9525">
            <a:solidFill>
              <a:srgbClr val="D5DBE3"/>
            </a:solidFill>
            <a:prstDash val="solid"/>
          </a:ln>
          <a:effectLst>
            <a:outerShdw sx="100000" sy="100000" kx="0" ky="0" algn="bl" rotWithShape="0" blurRad="101600" dist="25400" dir="5400000">
              <a:srgbClr val="000000">
                <a:alpha val="18000"/>
              </a:srgbClr>
            </a:outerShdw>
          </a:effectLst>
        </p:spPr>
        <p:txBody>
          <a:bodyPr/>
          <a:p/>
        </p:txBody>
      </p:sp>
      <p:pic>
        <p:nvPicPr>
          <p:cNvPr id="11" name="Picture 10" descr="00_login.png"/>
          <p:cNvPicPr>
            <a:picLocks noChangeAspect="1"/>
          </p:cNvPicPr>
          <p:nvPr/>
        </p:nvPicPr>
        <p:blipFill>
          <a:blip r:embed="rId9"/>
          <a:srcRect/>
          <a:stretch>
            <a:fillRect/>
          </a:stretch>
        </p:blipFill>
        <p:spPr>
          <a:xfrm>
            <a:off x="7557193" y="1324733"/>
            <a:ext cx="3950853" cy="3406894"/>
          </a:xfrm>
          <a:prstGeom prst="rect">
            <a:avLst/>
          </a:prstGeom>
        </p:spPr>
      </p:pic>
      <p:sp>
        <p:nvSpPr>
          <p:cNvPr id="9" name="Text 5"/>
          <p:cNvSpPr txBox="1"/>
          <p:nvPr/>
        </p:nvSpPr>
        <p:spPr>
          <a:xfrm>
            <a:off x="548640" y="5597632"/>
            <a:ext cx="6492240" cy="50292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Қонақ: 3 бет, тек бекітілген және мұрағаттағы құжаттар; санат сүзгісі, «Құжат түрі ▲» бойынша сұрыптау</a:t>
            </a:r>
            <a:endParaRPr lang="en-US" sz="1300" dirty="0"/>
          </a:p>
        </p:txBody>
      </p:sp>
      <p:sp>
        <p:nvSpPr>
          <p:cNvPr id="10" name="Text 6"/>
          <p:cNvSpPr txBox="1"/>
          <p:nvPr/>
        </p:nvSpPr>
        <p:spPr>
          <a:xfrm>
            <a:off x="7406640" y="5004801"/>
            <a:ext cx="4251960" cy="68580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Әкімші: admin / Admin2026 (4 бет)</a:t>
            </a:r>
            <a:endParaRPr lang="en-US" sz="1300" dirty="0"/>
          </a:p>
          <a:p>
            <a:pPr indent="0" marL="0">
              <a:buNone/>
            </a:pPr>
            <a:r>
              <a:rPr lang="en-US" sz="1300" dirty="0">
                <a:solidFill>
                  <a:srgbClr val="6B7280"/>
                </a:solidFill>
                <a:latin typeface="Calibri" pitchFamily="34" charset="0"/>
                <a:ea typeface="Calibri" pitchFamily="34" charset="-122"/>
                <a:cs typeface="Calibri" pitchFamily="34" charset="-120"/>
              </a:rPr>
              <a:t>Қонақ: qonaq / Qonaq2026 (3 бет)</a:t>
            </a:r>
            <a:endParaRPr lang="en-US" sz="1300" dirty="0"/>
          </a:p>
          <a:p>
            <a:pPr indent="0" marL="0">
              <a:buNone/>
            </a:pPr>
            <a:r>
              <a:rPr lang="en-US" sz="1300" dirty="0">
                <a:solidFill>
                  <a:srgbClr val="6B7280"/>
                </a:solidFill>
                <a:latin typeface="Calibri" pitchFamily="34" charset="0"/>
                <a:ea typeface="Calibri" pitchFamily="34" charset="-122"/>
                <a:cs typeface="Calibri" pitchFamily="34" charset="-120"/>
              </a:rPr>
              <a:t>Құпиясөз базада PBKDF2 хэші ретінде сақталады</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Зерттеу нәтижелері</a:t>
            </a:r>
            <a:endParaRPr lang="en-US" sz="30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EduDocs · «Деректер базасы және SQL сұратымдар» · 2026</a:t>
            </a:r>
            <a:endParaRPr lang="en-US" sz="10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8A94A6"/>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48640" y="1234440"/>
            <a:ext cx="6035040" cy="1463040"/>
          </a:xfrm>
          <a:prstGeom prst="roundRect">
            <a:avLst>
              <a:gd name="adj" fmla="val 5000"/>
            </a:avLst>
          </a:prstGeom>
          <a:solidFill>
            <a:srgbClr val="F3F5F8"/>
          </a:solidFill>
          <a:ln w="9525">
            <a:solidFill>
              <a:srgbClr val="D5DBE3"/>
            </a:solidFill>
            <a:prstDash val="solid"/>
          </a:ln>
        </p:spPr>
      </p:sp>
      <p:sp>
        <p:nvSpPr>
          <p:cNvPr id="6" name="Text 4"/>
          <p:cNvSpPr txBox="1"/>
          <p:nvPr/>
        </p:nvSpPr>
        <p:spPr>
          <a:xfrm>
            <a:off x="731520" y="1371600"/>
            <a:ext cx="2286000" cy="118872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104</a:t>
            </a:r>
            <a:endParaRPr lang="en-US" sz="4000" dirty="0"/>
          </a:p>
        </p:txBody>
      </p:sp>
      <p:sp>
        <p:nvSpPr>
          <p:cNvPr id="7" name="Text 5"/>
          <p:cNvSpPr txBox="1"/>
          <p:nvPr/>
        </p:nvSpPr>
        <p:spPr>
          <a:xfrm>
            <a:off x="3017520" y="1371600"/>
            <a:ext cx="3429000" cy="11887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жазба 6 кестеде; барлық скрипт қатесіз орындалды (шығу коды 0)</a:t>
            </a:r>
            <a:endParaRPr lang="en-US" sz="1500" dirty="0"/>
          </a:p>
        </p:txBody>
      </p:sp>
      <p:sp>
        <p:nvSpPr>
          <p:cNvPr id="8" name="Shape 6"/>
          <p:cNvSpPr/>
          <p:nvPr/>
        </p:nvSpPr>
        <p:spPr>
          <a:xfrm>
            <a:off x="548640" y="2880360"/>
            <a:ext cx="6035040" cy="1463040"/>
          </a:xfrm>
          <a:prstGeom prst="roundRect">
            <a:avLst>
              <a:gd name="adj" fmla="val 5000"/>
            </a:avLst>
          </a:prstGeom>
          <a:solidFill>
            <a:srgbClr val="F3F5F8"/>
          </a:solidFill>
          <a:ln w="9525">
            <a:solidFill>
              <a:srgbClr val="D5DBE3"/>
            </a:solidFill>
            <a:prstDash val="solid"/>
          </a:ln>
        </p:spPr>
      </p:sp>
      <p:sp>
        <p:nvSpPr>
          <p:cNvPr id="9" name="Text 7"/>
          <p:cNvSpPr txBox="1"/>
          <p:nvPr/>
        </p:nvSpPr>
        <p:spPr>
          <a:xfrm>
            <a:off x="731520" y="3017520"/>
            <a:ext cx="2286000" cy="1188720"/>
          </a:xfrm>
          <a:prstGeom prst="rect">
            <a:avLst/>
          </a:prstGeom>
          <a:noFill/>
          <a:ln/>
        </p:spPr>
        <p:txBody>
          <a:bodyPr wrap="square" lIns="0" tIns="0" rIns="0" bIns="0" rtlCol="0" anchor="ctr"/>
          <a:lstStyle/>
          <a:p>
            <a:pPr indent="0" marL="0">
              <a:buNone/>
            </a:pPr>
            <a:r>
              <a:rPr lang="en-US" sz="4000" b="1" dirty="0">
                <a:solidFill>
                  <a:srgbClr val="9C2F2F"/>
                </a:solidFill>
                <a:latin typeface="Cambria" pitchFamily="34" charset="0"/>
                <a:ea typeface="Cambria" pitchFamily="34" charset="-122"/>
                <a:cs typeface="Cambria" pitchFamily="34" charset="-120"/>
              </a:rPr>
              <a:t>5 / 5</a:t>
            </a:r>
            <a:endParaRPr lang="en-US" sz="4000" dirty="0"/>
          </a:p>
        </p:txBody>
      </p:sp>
      <p:sp>
        <p:nvSpPr>
          <p:cNvPr id="10" name="Text 8"/>
          <p:cNvSpPr txBox="1"/>
          <p:nvPr/>
        </p:nvSpPr>
        <p:spPr>
          <a:xfrm>
            <a:off x="3017520" y="3017520"/>
            <a:ext cx="3429000" cy="11887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қате жазба базаға түспеді: FOREIGN KEY, CHECK, UNIQUE, NOT NULL шектеулері</a:t>
            </a:r>
            <a:endParaRPr lang="en-US" sz="1500" dirty="0"/>
          </a:p>
        </p:txBody>
      </p:sp>
      <p:sp>
        <p:nvSpPr>
          <p:cNvPr id="11" name="Shape 9"/>
          <p:cNvSpPr/>
          <p:nvPr/>
        </p:nvSpPr>
        <p:spPr>
          <a:xfrm>
            <a:off x="548640" y="4526280"/>
            <a:ext cx="6035040" cy="1463040"/>
          </a:xfrm>
          <a:prstGeom prst="roundRect">
            <a:avLst>
              <a:gd name="adj" fmla="val 5000"/>
            </a:avLst>
          </a:prstGeom>
          <a:solidFill>
            <a:srgbClr val="F3F5F8"/>
          </a:solidFill>
          <a:ln w="9525">
            <a:solidFill>
              <a:srgbClr val="D5DBE3"/>
            </a:solidFill>
            <a:prstDash val="solid"/>
          </a:ln>
        </p:spPr>
      </p:sp>
      <p:sp>
        <p:nvSpPr>
          <p:cNvPr id="12" name="Text 10"/>
          <p:cNvSpPr txBox="1"/>
          <p:nvPr/>
        </p:nvSpPr>
        <p:spPr>
          <a:xfrm>
            <a:off x="731520" y="4663440"/>
            <a:ext cx="2286000" cy="1188720"/>
          </a:xfrm>
          <a:prstGeom prst="rect">
            <a:avLst/>
          </a:prstGeom>
          <a:noFill/>
          <a:ln/>
        </p:spPr>
        <p:txBody>
          <a:bodyPr wrap="square" lIns="0" tIns="0" rIns="0" bIns="0" rtlCol="0" anchor="ctr"/>
          <a:lstStyle/>
          <a:p>
            <a:pPr indent="0" marL="0">
              <a:buNone/>
            </a:pPr>
            <a:r>
              <a:rPr lang="en-US" sz="4000" b="1" dirty="0">
                <a:solidFill>
                  <a:srgbClr val="2E6F6F"/>
                </a:solidFill>
                <a:latin typeface="Cambria" pitchFamily="34" charset="0"/>
                <a:ea typeface="Cambria" pitchFamily="34" charset="-122"/>
                <a:cs typeface="Cambria" pitchFamily="34" charset="-120"/>
              </a:rPr>
              <a:t>2</a:t>
            </a:r>
            <a:endParaRPr lang="en-US" sz="4000" dirty="0"/>
          </a:p>
        </p:txBody>
      </p:sp>
      <p:sp>
        <p:nvSpPr>
          <p:cNvPr id="13" name="Text 11"/>
          <p:cNvSpPr txBox="1"/>
          <p:nvPr/>
        </p:nvSpPr>
        <p:spPr>
          <a:xfrm>
            <a:off x="3017520" y="4663440"/>
            <a:ext cx="3429000" cy="11887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қазақ тіліне арналған шешім: kz_lower() және KAZAKH салыстыру ережесі</a:t>
            </a:r>
            <a:endParaRPr lang="en-US" sz="1500" dirty="0"/>
          </a:p>
        </p:txBody>
      </p:sp>
      <p:sp>
        <p:nvSpPr>
          <p:cNvPr id="14" name="Text 12"/>
          <p:cNvSpPr txBox="1"/>
          <p:nvPr/>
        </p:nvSpPr>
        <p:spPr>
          <a:xfrm>
            <a:off x="6903720" y="1188720"/>
            <a:ext cx="4754880" cy="41148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ORDER BY full_name: BINARY және COLLATE KAZAKH</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903720" y="1691640"/>
          <a:ext cx="4754880" cy="914400"/>
        </p:xfrm>
        <a:graphic>
          <a:graphicData uri="http://schemas.openxmlformats.org/drawingml/2006/table">
            <a:tbl>
              <a:tblPr/>
              <a:tblGrid>
                <a:gridCol w="548640"/>
                <a:gridCol w="2103120"/>
                <a:gridCol w="2103120"/>
              </a:tblGrid>
              <a:tr h="329184">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4E9F0"/>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BINARY (әдепкі)</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4E9F0"/>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KAZAKH (әліпби реті)</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4E9F0"/>
                    </a:solidFill>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Ахметова Аяулым</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Ахметова Аяулым</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Бекмұхамедов Әлихан</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b="1" dirty="0">
                          <a:solidFill>
                            <a:srgbClr val="2E6F6F"/>
                          </a:solidFill>
                          <a:latin typeface="Calibri" pitchFamily="34" charset="0"/>
                          <a:ea typeface="Calibri" pitchFamily="34" charset="-122"/>
                          <a:cs typeface="Calibri" pitchFamily="34" charset="-120"/>
                        </a:rPr>
                        <a:t>Әбенова Аружан</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Есенов Ильяс</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1">
                          <a:solidFill>
                            <a:srgbClr val="2E6F6F"/>
                          </a:solidFill>
                          <a:latin typeface="Calibri" pitchFamily="34" charset="0"/>
                          <a:ea typeface="Calibri" pitchFamily="34" charset="-122"/>
                          <a:cs typeface="Calibri" pitchFamily="34" charset="-120"/>
                        </a:rPr>
                        <a:t>Әлиева Томирис</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Жақыпов Бекзат</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Бекмұхамедов Әлихан</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Жолдасов Ерхан</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b="0" dirty="0">
                          <a:solidFill>
                            <a:srgbClr val="1F2937"/>
                          </a:solidFill>
                          <a:latin typeface="Calibri" pitchFamily="34" charset="0"/>
                          <a:ea typeface="Calibri" pitchFamily="34" charset="-122"/>
                          <a:cs typeface="Calibri" pitchFamily="34" charset="-120"/>
                        </a:rPr>
                        <a:t>Есенов Ильяс</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Жұмабекова Мадина</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Жақыпов Бекзат</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Ибраева Камила</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Жолдасов Ерхан</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Ким Виктория</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Жұмабекова Мадина</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b="0" dirty="0">
                          <a:solidFill>
                            <a:srgbClr val="1F2937"/>
                          </a:solidFill>
                          <a:latin typeface="Calibri" pitchFamily="34" charset="0"/>
                          <a:ea typeface="Calibri" pitchFamily="34" charset="-122"/>
                          <a:cs typeface="Calibri" pitchFamily="34" charset="-120"/>
                        </a:rPr>
                        <a:t>Мамырбаев Дәулет</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Ибраева Камила</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b="0" dirty="0">
                          <a:solidFill>
                            <a:srgbClr val="1F2937"/>
                          </a:solidFill>
                          <a:latin typeface="Calibri" pitchFamily="34" charset="0"/>
                          <a:ea typeface="Calibri" pitchFamily="34" charset="-122"/>
                          <a:cs typeface="Calibri" pitchFamily="34" charset="-120"/>
                        </a:rPr>
                        <a:t>Нұрланова Салтанат</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indent="0" marL="0">
                        <a:buNone/>
                      </a:pPr>
                      <a:r>
                        <a:rPr lang="en-US" sz="1300" dirty="0" b="0">
                          <a:solidFill>
                            <a:srgbClr val="1F2937"/>
                          </a:solidFill>
                          <a:latin typeface="Calibri" pitchFamily="34" charset="0"/>
                          <a:ea typeface="Calibri" pitchFamily="34" charset="-122"/>
                          <a:cs typeface="Calibri" pitchFamily="34" charset="-120"/>
                        </a:rPr>
                        <a:t>Ким Виктория</a:t>
                      </a:r>
                      <a:endParaRPr lang="en-US" sz="1300" dirty="0">
                        <a:latin typeface="Calibri" charset="0"/>
                        <a:ea typeface="Calibri" charset="0"/>
                        <a:cs typeface="Calibri" charset="0"/>
                      </a:endParaRPr>
                    </a:p>
                  </a:txBody>
                  <a:tcPr marL="45720" marR="45720" marT="45720" marB="45720">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sp>
        <p:nvSpPr>
          <p:cNvPr id="16" name="Text 13"/>
          <p:cNvSpPr txBox="1"/>
          <p:nvPr/>
        </p:nvSpPr>
        <p:spPr>
          <a:xfrm>
            <a:off x="6903720" y="5532120"/>
            <a:ext cx="4754880" cy="548640"/>
          </a:xfrm>
          <a:prstGeom prst="rect">
            <a:avLst/>
          </a:prstGeom>
          <a:noFill/>
          <a:ln/>
        </p:spPr>
        <p:txBody>
          <a:bodyPr wrap="square" lIns="0" tIns="0" rIns="0" bIns="0" rtlCol="0" anchor="ctr"/>
          <a:lstStyle/>
          <a:p>
            <a:pPr indent="0" marL="0">
              <a:buNone/>
            </a:pPr>
            <a:r>
              <a:rPr lang="en-US" sz="1100" dirty="0">
                <a:solidFill>
                  <a:srgbClr val="1F2937"/>
                </a:solidFill>
                <a:latin typeface="Consolas" pitchFamily="34" charset="0"/>
                <a:ea typeface="Consolas" pitchFamily="34" charset="-122"/>
                <a:cs typeface="Consolas" pitchFamily="34" charset="-120"/>
              </a:rPr>
              <a:t>LIKE '%СИЛЛАБУС%' → 0;  kz_lower(…) LIKE → 11 құжат</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Қорытынды</a:t>
            </a:r>
            <a:endParaRPr lang="en-US" sz="3200" dirty="0"/>
          </a:p>
        </p:txBody>
      </p:sp>
      <p:sp>
        <p:nvSpPr>
          <p:cNvPr id="3" name="Shape 1"/>
          <p:cNvSpPr/>
          <p:nvPr/>
        </p:nvSpPr>
        <p:spPr>
          <a:xfrm>
            <a:off x="548640" y="1417320"/>
            <a:ext cx="566928" cy="566928"/>
          </a:xfrm>
          <a:prstGeom prst="ellipse">
            <a:avLst/>
          </a:prstGeom>
          <a:solidFill>
            <a:srgbClr val="4A6FA5"/>
          </a:solidFill>
          <a:ln w="12700">
            <a:solidFill>
              <a:srgbClr val="4A6FA5"/>
            </a:solidFill>
            <a:prstDash val="solid"/>
          </a:ln>
        </p:spPr>
        <p:txBody>
          <a:bodyPr/>
          <a:p/>
        </p:txBody>
      </p:sp>
      <p:pic>
        <p:nvPicPr>
          <p:cNvPr id="4" name="Image 0" descr="C:\Users\Administrator\AppData\Local\Temp\claude\C--Users-Administrator\3bae1df8-6f55-4fee-a59f-2e7e3d58a40d\scratchpad\deck\icons\check_w.png">    </p:cNvPr>
          <p:cNvPicPr>
            <a:picLocks noChangeAspect="1"/>
          </p:cNvPicPr>
          <p:nvPr/>
        </p:nvPicPr>
        <p:blipFill>
          <a:blip r:embed="rId1"/>
          <a:stretch>
            <a:fillRect/>
          </a:stretch>
        </p:blipFill>
        <p:spPr>
          <a:xfrm>
            <a:off x="662026" y="1530706"/>
            <a:ext cx="340157" cy="340157"/>
          </a:xfrm>
          <a:prstGeom prst="rect">
            <a:avLst/>
          </a:prstGeom>
        </p:spPr>
      </p:pic>
      <p:sp>
        <p:nvSpPr>
          <p:cNvPr id="5" name="Text 2"/>
          <p:cNvSpPr txBox="1"/>
          <p:nvPr/>
        </p:nvSpPr>
        <p:spPr>
          <a:xfrm>
            <a:off x="1325880" y="1371600"/>
            <a:ext cx="10241280" cy="65836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Оқу құжаттарына арналған 3ҚФ-дағы реляциялық ДБ: 6 кесте, 4 FK, 2 индекс, 1 көрініс, 1 триггер</a:t>
            </a:r>
            <a:endParaRPr lang="en-US" sz="1800" dirty="0"/>
          </a:p>
        </p:txBody>
      </p:sp>
      <p:sp>
        <p:nvSpPr>
          <p:cNvPr id="6" name="Shape 3"/>
          <p:cNvSpPr/>
          <p:nvPr/>
        </p:nvSpPr>
        <p:spPr>
          <a:xfrm>
            <a:off x="548640" y="2286000"/>
            <a:ext cx="566928" cy="566928"/>
          </a:xfrm>
          <a:prstGeom prst="ellipse">
            <a:avLst/>
          </a:prstGeom>
          <a:solidFill>
            <a:srgbClr val="4A6FA5"/>
          </a:solidFill>
          <a:ln w="12700">
            <a:solidFill>
              <a:srgbClr val="4A6FA5"/>
            </a:solidFill>
            <a:prstDash val="solid"/>
          </a:ln>
        </p:spPr>
        <p:txBody>
          <a:bodyPr/>
          <a:p/>
        </p:txBody>
      </p:sp>
      <p:pic>
        <p:nvPicPr>
          <p:cNvPr id="7" name="Image 1" descr="C:\Users\Administrator\AppData\Local\Temp\claude\C--Users-Administrator\3bae1df8-6f55-4fee-a59f-2e7e3d58a40d\scratchpad\deck\icons\code_w.png">    </p:cNvPr>
          <p:cNvPicPr>
            <a:picLocks noChangeAspect="1"/>
          </p:cNvPicPr>
          <p:nvPr/>
        </p:nvPicPr>
        <p:blipFill>
          <a:blip r:embed="rId2"/>
          <a:stretch>
            <a:fillRect/>
          </a:stretch>
        </p:blipFill>
        <p:spPr>
          <a:xfrm>
            <a:off x="662026" y="2399386"/>
            <a:ext cx="340157" cy="340157"/>
          </a:xfrm>
          <a:prstGeom prst="rect">
            <a:avLst/>
          </a:prstGeom>
        </p:spPr>
      </p:pic>
      <p:sp>
        <p:nvSpPr>
          <p:cNvPr id="8" name="Text 4"/>
          <p:cNvSpPr txBox="1"/>
          <p:nvPr/>
        </p:nvSpPr>
        <p:spPr>
          <a:xfrm>
            <a:off x="1325880" y="2240280"/>
            <a:ext cx="10241280" cy="65836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Курстық жұмыстың 9 міндеті PyCharm-де 12 скрипт арқылы орындалды</a:t>
            </a:r>
            <a:endParaRPr lang="en-US" sz="1800" dirty="0"/>
          </a:p>
        </p:txBody>
      </p:sp>
      <p:sp>
        <p:nvSpPr>
          <p:cNvPr id="9" name="Shape 5"/>
          <p:cNvSpPr/>
          <p:nvPr/>
        </p:nvSpPr>
        <p:spPr>
          <a:xfrm>
            <a:off x="548640" y="3154680"/>
            <a:ext cx="566928" cy="566928"/>
          </a:xfrm>
          <a:prstGeom prst="ellipse">
            <a:avLst/>
          </a:prstGeom>
          <a:solidFill>
            <a:srgbClr val="4A6FA5"/>
          </a:solidFill>
          <a:ln w="12700">
            <a:solidFill>
              <a:srgbClr val="4A6FA5"/>
            </a:solidFill>
            <a:prstDash val="solid"/>
          </a:ln>
        </p:spPr>
        <p:txBody>
          <a:bodyPr/>
          <a:p/>
        </p:txBody>
      </p:sp>
      <p:pic>
        <p:nvPicPr>
          <p:cNvPr id="10" name="Image 2" descr="C:\Users\Administrator\AppData\Local\Temp\claude\C--Users-Administrator\3bae1df8-6f55-4fee-a59f-2e7e3d58a40d\scratchpad\deck\icons\monitor_w.png">    </p:cNvPr>
          <p:cNvPicPr>
            <a:picLocks noChangeAspect="1"/>
          </p:cNvPicPr>
          <p:nvPr/>
        </p:nvPicPr>
        <p:blipFill>
          <a:blip r:embed="rId3"/>
          <a:stretch>
            <a:fillRect/>
          </a:stretch>
        </p:blipFill>
        <p:spPr>
          <a:xfrm>
            <a:off x="662026" y="3268066"/>
            <a:ext cx="340157" cy="340157"/>
          </a:xfrm>
          <a:prstGeom prst="rect">
            <a:avLst/>
          </a:prstGeom>
        </p:spPr>
      </p:pic>
      <p:sp>
        <p:nvSpPr>
          <p:cNvPr id="11" name="Text 6"/>
          <p:cNvSpPr txBox="1"/>
          <p:nvPr/>
        </p:nvSpPr>
        <p:spPr>
          <a:xfrm>
            <a:off x="1325880" y="3108960"/>
            <a:ext cx="10241280" cy="65836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EduDocs веб-қосымшасы: кіру, әкімші/қонақ рөлдері, іздеу, сүзгілеу, сұрыптау, есептер</a:t>
            </a:r>
            <a:endParaRPr lang="en-US" sz="1800" dirty="0"/>
          </a:p>
        </p:txBody>
      </p:sp>
      <p:sp>
        <p:nvSpPr>
          <p:cNvPr id="12" name="Shape 7"/>
          <p:cNvSpPr/>
          <p:nvPr/>
        </p:nvSpPr>
        <p:spPr>
          <a:xfrm>
            <a:off x="548640" y="4023360"/>
            <a:ext cx="566928" cy="566928"/>
          </a:xfrm>
          <a:prstGeom prst="ellipse">
            <a:avLst/>
          </a:prstGeom>
          <a:solidFill>
            <a:srgbClr val="2E6F6F"/>
          </a:solidFill>
          <a:ln w="12700">
            <a:solidFill>
              <a:srgbClr val="2E6F6F"/>
            </a:solidFill>
            <a:prstDash val="solid"/>
          </a:ln>
        </p:spPr>
        <p:txBody>
          <a:bodyPr/>
          <a:p/>
        </p:txBody>
      </p:sp>
      <p:pic>
        <p:nvPicPr>
          <p:cNvPr id="13" name="Image 3" descr="C:\Users\Administrator\AppData\Local\Temp\claude\C--Users-Administrator\3bae1df8-6f55-4fee-a59f-2e7e3d58a40d\scratchpad\deck\icons\gear_w.png">    </p:cNvPr>
          <p:cNvPicPr>
            <a:picLocks noChangeAspect="1"/>
          </p:cNvPicPr>
          <p:nvPr/>
        </p:nvPicPr>
        <p:blipFill>
          <a:blip r:embed="rId4"/>
          <a:stretch>
            <a:fillRect/>
          </a:stretch>
        </p:blipFill>
        <p:spPr>
          <a:xfrm>
            <a:off x="662026" y="4136746"/>
            <a:ext cx="340157" cy="340157"/>
          </a:xfrm>
          <a:prstGeom prst="rect">
            <a:avLst/>
          </a:prstGeom>
        </p:spPr>
      </p:pic>
      <p:sp>
        <p:nvSpPr>
          <p:cNvPr id="14" name="Text 8"/>
          <p:cNvSpPr txBox="1"/>
          <p:nvPr/>
        </p:nvSpPr>
        <p:spPr>
          <a:xfrm>
            <a:off x="1325880" y="3977640"/>
            <a:ext cx="10241280" cy="65836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Даму бағыты: PostgreSQL, құжат файлдарын сақтау, ЭЦҚ интеграциясы</a:t>
            </a:r>
            <a:endParaRPr lang="en-US" sz="1800" dirty="0"/>
          </a:p>
        </p:txBody>
      </p:sp>
      <p:sp>
        <p:nvSpPr>
          <p:cNvPr id="15" name="Text 9"/>
          <p:cNvSpPr txBox="1"/>
          <p:nvPr/>
        </p:nvSpPr>
        <p:spPr>
          <a:xfrm>
            <a:off x="548640" y="5120640"/>
            <a:ext cx="11064240"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Назарларыңызға рахмет!</a:t>
            </a:r>
            <a:endParaRPr lang="en-US" sz="3400" dirty="0"/>
          </a:p>
        </p:txBody>
      </p:sp>
      <p:sp>
        <p:nvSpPr>
          <p:cNvPr id="16" name="Text 10"/>
          <p:cNvSpPr txBox="1"/>
          <p:nvPr/>
        </p:nvSpPr>
        <p:spPr>
          <a:xfrm>
            <a:off x="548640" y="5806440"/>
            <a:ext cx="11064240" cy="411480"/>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Сұрақтарыңызға жауап беруге дайынмын</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EduDocs — курстық жұмысты қорғау</dc:title>
  <dc:subject>PptxGenJS Presentation</dc:subject>
  <dc:creator>Ербол Елқұт, Авьдал Бахатбек</dc:creator>
  <cp:lastModifiedBy>Ербол Елқұт</cp:lastModifiedBy>
  <cp:revision>1</cp:revision>
  <dcterms:created xsi:type="dcterms:W3CDTF">2026-09-26T23:54:14Z</dcterms:created>
  <dcterms:modified xsi:type="dcterms:W3CDTF">2026-09-26T23:54:14Z</dcterms:modified>
</cp:coreProperties>
</file>